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mover 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</a:t>
            </a: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16A6821-7646-4BCE-BD7A-1CC8E21C55F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12E5D6-AE46-4B68-A22C-5F2F6AAE2A9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6A90FD-A406-437B-AE9C-F88AB5972EB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664B57-53E3-4D7F-941E-DCB5E3CBE89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5D9E49-EB87-4EE2-BF10-6E160783AF3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AEE391-BEEF-4E4A-BF4B-EC44077A7C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B64748-FF3C-4966-9077-046A8546E0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280FB6-7EEC-42F0-B091-DE1E2456122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BC9E38-7904-41C6-8F28-6F247591C46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A71237-56E2-4C61-AD96-F6A4681ECC5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479FA3-C01D-43F0-9D65-E9B62D34C3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F7BEF4-AD0F-4B49-9C37-459EE6744C0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0CFD4E-F36C-46E5-BE5E-7CA89AC75E7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4983CB-9F71-4F13-A38B-496F804A88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AF674A-6F7E-46F2-BA1D-63C176CF0E6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16BC16-5B77-4746-9856-B7D2D3B80E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55A35B-0D93-408B-B223-64A0D95111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tí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ul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-1097280"/>
            <a:ext cx="5028120" cy="502812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858000" y="-457200"/>
            <a:ext cx="3199320" cy="3199320"/>
          </a:xfrm>
          <a:prstGeom prst="ellipse">
            <a:avLst/>
          </a:prstGeom>
          <a:solidFill>
            <a:srgbClr val="e87722">
              <a:alpha val="20000"/>
            </a:srgbClr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1097280"/>
            <a:ext cx="53640" cy="29250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2004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20040" y="822960"/>
            <a:ext cx="639972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Ferramentas de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Desenvolvimento Moderno - Revisão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20040" y="260604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Disciplina de Desenvolvimento Frontend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20040" y="3291840"/>
            <a:ext cx="2102040" cy="3463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20040" y="3291840"/>
            <a:ext cx="21020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Node.js &amp; npm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651760" y="3291840"/>
            <a:ext cx="2102040" cy="3463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651760" y="3291840"/>
            <a:ext cx="21020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Terminal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983480" y="3291840"/>
            <a:ext cx="2102040" cy="3463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983480" y="3291840"/>
            <a:ext cx="21020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Git &amp; GitHub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20040" y="3794760"/>
            <a:ext cx="2102040" cy="3463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20040" y="3794760"/>
            <a:ext cx="21020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VS Code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2651760" y="3794760"/>
            <a:ext cx="2102040" cy="3463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2651760" y="3794760"/>
            <a:ext cx="21020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ESLint &amp; Prettier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4983480" y="3794760"/>
            <a:ext cx="2102040" cy="3463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983480" y="3794760"/>
            <a:ext cx="21020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Vite.js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320040" y="466344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274320" y="164520"/>
            <a:ext cx="79452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274320" y="173880"/>
            <a:ext cx="794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320040" y="5029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 que foi visto na aula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228600" y="1234440"/>
            <a:ext cx="4205160" cy="1023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228600" y="1234440"/>
            <a:ext cx="44640" cy="1023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338400" y="132588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01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822960" y="132588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Node.js &amp; npm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822960" y="167328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Gerenciamento de pacotes e scripts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4663440" y="1234440"/>
            <a:ext cx="4205160" cy="1023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4663440" y="1234440"/>
            <a:ext cx="44640" cy="1023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4773240" y="132588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02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257800" y="132588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Terminal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5257800" y="167328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Comandos essenciais no desenvolvimento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228600" y="2423160"/>
            <a:ext cx="4205160" cy="1023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228600" y="2423160"/>
            <a:ext cx="44640" cy="1023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338400" y="251460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03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822960" y="251460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Git &amp; GitHub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822960" y="286200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Controle de versão e fluxo em equipe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2"/>
          <p:cNvSpPr/>
          <p:nvPr/>
        </p:nvSpPr>
        <p:spPr>
          <a:xfrm>
            <a:off x="4663440" y="2423160"/>
            <a:ext cx="4205160" cy="1023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3"/>
          <p:cNvSpPr/>
          <p:nvPr/>
        </p:nvSpPr>
        <p:spPr>
          <a:xfrm>
            <a:off x="4663440" y="2423160"/>
            <a:ext cx="44640" cy="1023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4773240" y="251460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5257800" y="251460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VS Code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5257800" y="286200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Extensões, atalhos e snippets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228600" y="3611880"/>
            <a:ext cx="4205160" cy="1023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9"/>
          <p:cNvSpPr/>
          <p:nvPr/>
        </p:nvSpPr>
        <p:spPr>
          <a:xfrm>
            <a:off x="228600" y="3611880"/>
            <a:ext cx="44640" cy="1023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338400" y="370332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05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822960" y="370332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ESLint &amp; Prettier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2"/>
          <p:cNvSpPr/>
          <p:nvPr/>
        </p:nvSpPr>
        <p:spPr>
          <a:xfrm>
            <a:off x="822960" y="405072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Qualidade e padrão de código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4"/>
          <p:cNvSpPr/>
          <p:nvPr/>
        </p:nvSpPr>
        <p:spPr>
          <a:xfrm>
            <a:off x="4663440" y="3611880"/>
            <a:ext cx="4205160" cy="1023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5"/>
          <p:cNvSpPr/>
          <p:nvPr/>
        </p:nvSpPr>
        <p:spPr>
          <a:xfrm>
            <a:off x="4663440" y="3611880"/>
            <a:ext cx="44640" cy="1023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6"/>
          <p:cNvSpPr/>
          <p:nvPr/>
        </p:nvSpPr>
        <p:spPr>
          <a:xfrm>
            <a:off x="4773240" y="370332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06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7"/>
          <p:cNvSpPr/>
          <p:nvPr/>
        </p:nvSpPr>
        <p:spPr>
          <a:xfrm>
            <a:off x="5257800" y="370332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Vite.js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8"/>
          <p:cNvSpPr/>
          <p:nvPr/>
        </p:nvSpPr>
        <p:spPr>
          <a:xfrm>
            <a:off x="5257800" y="405072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Ferramenta de build moderna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0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2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274320" y="164520"/>
            <a:ext cx="140256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274320" y="173880"/>
            <a:ext cx="1402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NODE.JS &amp; NPM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360000" y="1960560"/>
            <a:ext cx="50281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O que é o Node.js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no contexto front-end?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7132320" y="365760"/>
            <a:ext cx="1644840" cy="164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Shape 6"/>
          <p:cNvSpPr/>
          <p:nvPr/>
        </p:nvSpPr>
        <p:spPr>
          <a:xfrm>
            <a:off x="5760720" y="594360"/>
            <a:ext cx="3199320" cy="118764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5897880" y="685800"/>
            <a:ext cx="318960" cy="3189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5897880" y="6858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6291000" y="66744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Runtime JS fora do browser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6291000" y="1005840"/>
            <a:ext cx="25592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Executa JavaScript no servidor/terminal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5760720" y="2011680"/>
            <a:ext cx="3199320" cy="118764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5897880" y="2103120"/>
            <a:ext cx="318960" cy="3189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5897880" y="21031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6291000" y="208476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Ecossistema de ferramentas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6291000" y="2423160"/>
            <a:ext cx="25592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Bundlers, linters, transpiladores, servidores dev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5760720" y="3429000"/>
            <a:ext cx="3199320" cy="118764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5897880" y="3520440"/>
            <a:ext cx="318960" cy="3189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5897880" y="35204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6291000" y="350208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Não roda em produção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6291000" y="3840480"/>
            <a:ext cx="25592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No front-end, Node é usado só no desenvolvimento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3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274320" y="164520"/>
            <a:ext cx="140256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274320" y="173880"/>
            <a:ext cx="1402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NODE.JS &amp; NPM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320040" y="5029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npm — Comandos essenciais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228600" y="1188720"/>
            <a:ext cx="8685720" cy="5932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365760" y="1261800"/>
            <a:ext cx="5028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init -y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5394960" y="1261800"/>
            <a:ext cx="3382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Inicializar projeto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228600" y="1901880"/>
            <a:ext cx="8685720" cy="5932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365760" y="1974960"/>
            <a:ext cx="5028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axios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5394960" y="1974960"/>
            <a:ext cx="3382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Instalar dependência de produção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228600" y="2615040"/>
            <a:ext cx="8685720" cy="5932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365760" y="2688480"/>
            <a:ext cx="5028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--save-dev eslint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5394960" y="2688480"/>
            <a:ext cx="3382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Instalar dependência de desenvolvimento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228600" y="3328560"/>
            <a:ext cx="8685720" cy="59328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365760" y="3401640"/>
            <a:ext cx="5028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dev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5394960" y="3401640"/>
            <a:ext cx="3382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Executar script definido no package.json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228600" y="4041720"/>
            <a:ext cx="8685720" cy="5932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365760" y="4114800"/>
            <a:ext cx="5028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uninstall axios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5394960" y="4114800"/>
            <a:ext cx="3382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Remover pacote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228600" y="4709160"/>
            <a:ext cx="8685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💡  Atenção: nunca commite a pasta node_modules — ela é gerada pelo npm install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4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274320" y="164520"/>
            <a:ext cx="140256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274320" y="173880"/>
            <a:ext cx="1402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NODE.JS &amp; NPM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365760" y="502920"/>
            <a:ext cx="5485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Anatomia do package.json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365760" y="1188720"/>
            <a:ext cx="5028120" cy="3290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502920" y="1325880"/>
            <a:ext cx="475380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"scripts": {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"dev":    "vite",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"build":  "vite build",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"lint":   "eslint . --ext .js,.ts"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},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"dependencies":    { "axios": "^1.6.0" },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"devDependencies": { "eslint": "^8.57.0" 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5577840" y="1188720"/>
            <a:ext cx="338220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5577840" y="1188720"/>
            <a:ext cx="44640" cy="1004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5687640" y="1234440"/>
            <a:ext cx="3107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scripts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5687640" y="157284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Atalhos para comandos do projeto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5577840" y="2377440"/>
            <a:ext cx="338220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5577840" y="2377440"/>
            <a:ext cx="44640" cy="1004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5687640" y="2423160"/>
            <a:ext cx="3107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dependencies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5687640" y="276156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Bibliotecas usadas em produção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5577840" y="3566160"/>
            <a:ext cx="338220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4"/>
          <p:cNvSpPr/>
          <p:nvPr/>
        </p:nvSpPr>
        <p:spPr>
          <a:xfrm>
            <a:off x="5577840" y="3566160"/>
            <a:ext cx="44640" cy="1004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5687640" y="3611880"/>
            <a:ext cx="31078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devDependencies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5687640" y="395028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Ferramentas apenas para o desenvolvimento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5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274320" y="164520"/>
            <a:ext cx="96804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274320" y="173880"/>
            <a:ext cx="968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TERMINAL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0" descr="preencoded.png"/>
          <p:cNvPicPr/>
          <p:nvPr/>
        </p:nvPicPr>
        <p:blipFill>
          <a:blip r:embed="rId1"/>
          <a:stretch/>
        </p:blipFill>
        <p:spPr>
          <a:xfrm>
            <a:off x="7772400" y="274320"/>
            <a:ext cx="1096200" cy="10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3"/>
          <p:cNvSpPr/>
          <p:nvPr/>
        </p:nvSpPr>
        <p:spPr>
          <a:xfrm>
            <a:off x="320040" y="457200"/>
            <a:ext cx="6856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Terminal para front-end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228600" y="1143000"/>
            <a:ext cx="8685720" cy="4104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365760" y="117036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Comando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3017520" y="1170360"/>
            <a:ext cx="5851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que faz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228600" y="1572840"/>
            <a:ext cx="8685720" cy="447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365760" y="161856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pwd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3017520" y="1618560"/>
            <a:ext cx="575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Mostra o diretório atual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228600" y="2039040"/>
            <a:ext cx="8685720" cy="447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365760" y="208476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ls  /  dir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3017520" y="2084760"/>
            <a:ext cx="575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Lista arquivos e pastas (Unix / Windows)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228600" y="2505600"/>
            <a:ext cx="8685720" cy="447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365760" y="255132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cd nome-da-pasta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3017520" y="2551320"/>
            <a:ext cx="575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Entra em uma pasta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228600" y="2971800"/>
            <a:ext cx="8685720" cy="447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365760" y="301752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mkdir nome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3017520" y="3017520"/>
            <a:ext cx="575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Cria uma nova pasta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228600" y="3438000"/>
            <a:ext cx="8685720" cy="447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365760" y="348372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touch arquivo.js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1"/>
          <p:cNvSpPr/>
          <p:nvPr/>
        </p:nvSpPr>
        <p:spPr>
          <a:xfrm>
            <a:off x="3017520" y="3483720"/>
            <a:ext cx="575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Cria um arquivo vazio (Unix)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228600" y="3904560"/>
            <a:ext cx="8685720" cy="447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3"/>
          <p:cNvSpPr/>
          <p:nvPr/>
        </p:nvSpPr>
        <p:spPr>
          <a:xfrm>
            <a:off x="365760" y="395028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dev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3017520" y="3950280"/>
            <a:ext cx="575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Executa o servidor de desenvolvimento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228600" y="4370760"/>
            <a:ext cx="8685720" cy="447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6"/>
          <p:cNvSpPr/>
          <p:nvPr/>
        </p:nvSpPr>
        <p:spPr>
          <a:xfrm>
            <a:off x="365760" y="441648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Ctrl + C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7"/>
          <p:cNvSpPr/>
          <p:nvPr/>
        </p:nvSpPr>
        <p:spPr>
          <a:xfrm>
            <a:off x="3017520" y="4416480"/>
            <a:ext cx="5759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Interrompe o processo em execução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8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6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274320" y="164520"/>
            <a:ext cx="131580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274320" y="173880"/>
            <a:ext cx="1315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&amp; GITHUB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365760" y="5029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Fluxo de trabalho com Git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48640" y="1234440"/>
            <a:ext cx="2559240" cy="1919160"/>
          </a:xfrm>
          <a:prstGeom prst="rect">
            <a:avLst/>
          </a:prstGeom>
          <a:solidFill>
            <a:srgbClr val="0f1f3d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1554480" y="1097280"/>
            <a:ext cx="547560" cy="5475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1554480" y="109728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640080" y="1508760"/>
            <a:ext cx="2376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git add 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640080" y="2194560"/>
            <a:ext cx="2376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Seleciona arquivos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3108960" y="2103120"/>
            <a:ext cx="318960" cy="720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3364920" y="2011680"/>
            <a:ext cx="181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3429000" y="1234440"/>
            <a:ext cx="2559240" cy="1919160"/>
          </a:xfrm>
          <a:prstGeom prst="rect">
            <a:avLst/>
          </a:prstGeom>
          <a:solidFill>
            <a:srgbClr val="0f1f3d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4434840" y="1097280"/>
            <a:ext cx="547560" cy="5475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4434840" y="109728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3520440" y="1508760"/>
            <a:ext cx="2376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git commit -m "..."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3520440" y="2194560"/>
            <a:ext cx="2376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Registra mudança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5989320" y="2103120"/>
            <a:ext cx="318960" cy="720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6245280" y="2011680"/>
            <a:ext cx="181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6309360" y="1234440"/>
            <a:ext cx="2559240" cy="1919160"/>
          </a:xfrm>
          <a:prstGeom prst="rect">
            <a:avLst/>
          </a:prstGeom>
          <a:solidFill>
            <a:srgbClr val="0f1f3d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7315200" y="1097280"/>
            <a:ext cx="547560" cy="5475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7315200" y="109728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6400800" y="1508760"/>
            <a:ext cx="2376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git push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6400800" y="2194560"/>
            <a:ext cx="2376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Envia ao GitHub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365760" y="3383280"/>
            <a:ext cx="8502840" cy="1461960"/>
          </a:xfrm>
          <a:prstGeom prst="rect">
            <a:avLst/>
          </a:prstGeom>
          <a:solidFill>
            <a:srgbClr val="e8eff8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365760" y="3383280"/>
            <a:ext cx="44640" cy="1461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548640" y="345636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Feature Branch Workflow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5"/>
          <p:cNvSpPr/>
          <p:nvPr/>
        </p:nvSpPr>
        <p:spPr>
          <a:xfrm>
            <a:off x="548640" y="3840480"/>
            <a:ext cx="822852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3a6b"/>
                </a:solidFill>
                <a:effectLst/>
                <a:uFillTx/>
                <a:latin typeface="Courier New"/>
                <a:ea typeface="Courier New"/>
              </a:rPr>
              <a:t>git checkout -b feature/minha-funcionalidade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3a6b"/>
                </a:solidFill>
                <a:effectLst/>
                <a:uFillTx/>
                <a:latin typeface="Courier New"/>
                <a:ea typeface="Courier New"/>
              </a:rPr>
              <a:t># ... desenvolve ...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3a6b"/>
                </a:solidFill>
                <a:effectLst/>
                <a:uFillTx/>
                <a:latin typeface="Courier New"/>
                <a:ea typeface="Courier New"/>
              </a:rPr>
              <a:t>git push origin feature/minha-funcionalidade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3a6b"/>
                </a:solidFill>
                <a:effectLst/>
                <a:uFillTx/>
                <a:latin typeface="Courier New"/>
                <a:ea typeface="Courier New"/>
              </a:rPr>
              <a:t># Abre Pull Request → revisão → merge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7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274320" y="164520"/>
            <a:ext cx="131580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274320" y="173880"/>
            <a:ext cx="1315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&amp; GITHUB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320040" y="4572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Conventional Commits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320040" y="102420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Padrão de mensagens de commit adotado por equipes profissionais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228600" y="1463040"/>
            <a:ext cx="420516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228600" y="1463040"/>
            <a:ext cx="44640" cy="1004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365760" y="1536120"/>
            <a:ext cx="1187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cc71"/>
                </a:solidFill>
                <a:effectLst/>
                <a:uFillTx/>
                <a:latin typeface="Courier New"/>
                <a:ea typeface="Courier New"/>
              </a:rPr>
              <a:t>feat: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600200" y="153612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Nova funcionalidade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365760" y="196596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feat: adiciona botão de login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4663440" y="1463040"/>
            <a:ext cx="420516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4663440" y="1463040"/>
            <a:ext cx="44640" cy="1004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4800600" y="1536120"/>
            <a:ext cx="1187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74c3c"/>
                </a:solidFill>
                <a:effectLst/>
                <a:uFillTx/>
                <a:latin typeface="Courier New"/>
                <a:ea typeface="Courier New"/>
              </a:rPr>
              <a:t>fix: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6035040" y="153612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Correção de bug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4800600" y="196596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fix: corrige erro no formulário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5"/>
          <p:cNvSpPr/>
          <p:nvPr/>
        </p:nvSpPr>
        <p:spPr>
          <a:xfrm>
            <a:off x="228600" y="2606040"/>
            <a:ext cx="420516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228600" y="2606040"/>
            <a:ext cx="44640" cy="1004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7"/>
          <p:cNvSpPr/>
          <p:nvPr/>
        </p:nvSpPr>
        <p:spPr>
          <a:xfrm>
            <a:off x="365760" y="2679120"/>
            <a:ext cx="1187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docs: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8"/>
          <p:cNvSpPr/>
          <p:nvPr/>
        </p:nvSpPr>
        <p:spPr>
          <a:xfrm>
            <a:off x="1600200" y="267912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Documentação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365760" y="310896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docs: atualiza o README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4663440" y="2606040"/>
            <a:ext cx="420516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4663440" y="2606040"/>
            <a:ext cx="44640" cy="1004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4800600" y="2679120"/>
            <a:ext cx="1187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9b59b6"/>
                </a:solidFill>
                <a:effectLst/>
                <a:uFillTx/>
                <a:latin typeface="Courier New"/>
                <a:ea typeface="Courier New"/>
              </a:rPr>
              <a:t>style: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3"/>
          <p:cNvSpPr/>
          <p:nvPr/>
        </p:nvSpPr>
        <p:spPr>
          <a:xfrm>
            <a:off x="6035040" y="267912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Formatação (sem lógica)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4"/>
          <p:cNvSpPr/>
          <p:nvPr/>
        </p:nvSpPr>
        <p:spPr>
          <a:xfrm>
            <a:off x="4800600" y="310896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style: aplica Prettier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5"/>
          <p:cNvSpPr/>
          <p:nvPr/>
        </p:nvSpPr>
        <p:spPr>
          <a:xfrm>
            <a:off x="228600" y="3749040"/>
            <a:ext cx="420516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6"/>
          <p:cNvSpPr/>
          <p:nvPr/>
        </p:nvSpPr>
        <p:spPr>
          <a:xfrm>
            <a:off x="228600" y="3749040"/>
            <a:ext cx="44640" cy="1004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7"/>
          <p:cNvSpPr/>
          <p:nvPr/>
        </p:nvSpPr>
        <p:spPr>
          <a:xfrm>
            <a:off x="365760" y="3822120"/>
            <a:ext cx="1187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refactor: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8"/>
          <p:cNvSpPr/>
          <p:nvPr/>
        </p:nvSpPr>
        <p:spPr>
          <a:xfrm>
            <a:off x="1600200" y="382212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Refatoração sem nova feature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9"/>
          <p:cNvSpPr/>
          <p:nvPr/>
        </p:nvSpPr>
        <p:spPr>
          <a:xfrm>
            <a:off x="365760" y="425196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refactor: extrai função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0"/>
          <p:cNvSpPr/>
          <p:nvPr/>
        </p:nvSpPr>
        <p:spPr>
          <a:xfrm>
            <a:off x="4663440" y="3749040"/>
            <a:ext cx="4205160" cy="1004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1"/>
          <p:cNvSpPr/>
          <p:nvPr/>
        </p:nvSpPr>
        <p:spPr>
          <a:xfrm>
            <a:off x="4663440" y="3749040"/>
            <a:ext cx="44640" cy="1004760"/>
          </a:xfrm>
          <a:prstGeom prst="rect">
            <a:avLst/>
          </a:prstGeom>
          <a:solidFill>
            <a:srgbClr val="7b9fc4"/>
          </a:solidFill>
          <a:ln w="12700">
            <a:solidFill>
              <a:srgbClr val="7b9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2"/>
          <p:cNvSpPr/>
          <p:nvPr/>
        </p:nvSpPr>
        <p:spPr>
          <a:xfrm>
            <a:off x="4800600" y="3822120"/>
            <a:ext cx="1187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chore: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3"/>
          <p:cNvSpPr/>
          <p:nvPr/>
        </p:nvSpPr>
        <p:spPr>
          <a:xfrm>
            <a:off x="6035040" y="382212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Manutenção/tarefas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4"/>
          <p:cNvSpPr/>
          <p:nvPr/>
        </p:nvSpPr>
        <p:spPr>
          <a:xfrm>
            <a:off x="4800600" y="425196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chore: atualiza dependências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5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8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274320" y="164520"/>
            <a:ext cx="174996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274320" y="173880"/>
            <a:ext cx="174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ESLINT &amp; PRETTIER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365760" y="5029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Linter ≠ Formatter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320040" y="1188720"/>
            <a:ext cx="4022280" cy="347364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457200" y="1325880"/>
            <a:ext cx="3656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4b32c3"/>
                </a:solidFill>
                <a:effectLst/>
                <a:uFillTx/>
                <a:latin typeface="Trebuchet MS"/>
                <a:ea typeface="Trebuchet MS"/>
              </a:rPr>
              <a:t>ESLint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57200" y="1783080"/>
            <a:ext cx="3656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Analisa o código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457200" y="219456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Variáveis declaradas mas não usadas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457200" y="263340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Comparações == em vez de ===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457200" y="307224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console.log esquecidos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457200" y="351144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Uso de var em vez de const/let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457200" y="395028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Return ausente em funções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457200" y="431604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4b32c3"/>
                </a:solidFill>
                <a:effectLst/>
                <a:uFillTx/>
                <a:latin typeface="Calibri"/>
                <a:ea typeface="Calibri"/>
              </a:rPr>
              <a:t>Encontra PROBLEMAS de lógica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2"/>
          <p:cNvSpPr/>
          <p:nvPr/>
        </p:nvSpPr>
        <p:spPr>
          <a:xfrm>
            <a:off x="4709160" y="1188720"/>
            <a:ext cx="4113720" cy="347364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4846320" y="1325880"/>
            <a:ext cx="3656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Prettier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4846320" y="1783080"/>
            <a:ext cx="3656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Formata o código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4846320" y="219456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Aspas simples ou duplas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4846320" y="263340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Ponto e vírgula no fim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4846320" y="307224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Largura máxima da linha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4846320" y="351144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Indentação (tabs vs espaços)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4846320" y="395028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Trailing commas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4846320" y="431604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Define ESTÉTICA visual do código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1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11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274320" y="164520"/>
            <a:ext cx="174996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274320" y="173880"/>
            <a:ext cx="174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ESLINT &amp; PRETTIER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320040" y="4572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Configurando ESLint + Prettier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228600" y="1097280"/>
            <a:ext cx="4296600" cy="1827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365760" y="1234440"/>
            <a:ext cx="40222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1. Instalar o ESLint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--save-dev eslint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2. Instalar o Prettier e integração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--save-dev prettier eslint-config-prettier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228600" y="3063240"/>
            <a:ext cx="4296600" cy="1919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365760" y="3200400"/>
            <a:ext cx="402228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// .eslintrc.json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"extends": ["eslint:recommended","prettier"],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"rules": {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"no-unused-vars": "error",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"prefer-const":   "error"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4663440" y="1097280"/>
            <a:ext cx="4205160" cy="1827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4800600" y="1234440"/>
            <a:ext cx="393084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// .vscode/settings.json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"editor.formatOnSave": true,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"editor.defaultFormatter":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"esbenp.prettier-vscode"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0"/>
          <p:cNvSpPr/>
          <p:nvPr/>
        </p:nvSpPr>
        <p:spPr>
          <a:xfrm>
            <a:off x="4663440" y="3063240"/>
            <a:ext cx="4205160" cy="19191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1"/>
          <p:cNvSpPr/>
          <p:nvPr/>
        </p:nvSpPr>
        <p:spPr>
          <a:xfrm>
            <a:off x="4663440" y="3063240"/>
            <a:ext cx="44640" cy="1919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4800600" y="315468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Husky + lint-staged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4800600" y="3547800"/>
            <a:ext cx="39308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Executa ESLint + Prettier automaticamente antes de cada commit — código com erro não entra no repositório.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12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274320" y="164520"/>
            <a:ext cx="88128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274320" y="173880"/>
            <a:ext cx="881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VITE.JS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365760" y="502920"/>
            <a:ext cx="73141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Vite — Ferramenta de Build Moderna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320040" y="1188720"/>
            <a:ext cx="4113720" cy="1644840"/>
          </a:xfrm>
          <a:prstGeom prst="rect">
            <a:avLst/>
          </a:prstGeom>
          <a:solidFill>
            <a:srgbClr val="fdece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457200" y="128016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0392b"/>
                </a:solidFill>
                <a:effectLst/>
                <a:uFillTx/>
                <a:latin typeface="Trebuchet MS"/>
                <a:ea typeface="Trebuchet MS"/>
              </a:rPr>
              <a:t>O problema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5"/>
          <p:cNvSpPr/>
          <p:nvPr/>
        </p:nvSpPr>
        <p:spPr>
          <a:xfrm>
            <a:off x="457200" y="1691640"/>
            <a:ext cx="38394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Ferramentas como Webpack processam e empacotam TODOS os módulos antes de iniciar o servidor — em projetos grandes, dezenas de segundos a cada reinicialização.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6"/>
          <p:cNvSpPr/>
          <p:nvPr/>
        </p:nvSpPr>
        <p:spPr>
          <a:xfrm>
            <a:off x="4709160" y="1188720"/>
            <a:ext cx="4113720" cy="1644840"/>
          </a:xfrm>
          <a:prstGeom prst="rect">
            <a:avLst/>
          </a:prstGeom>
          <a:solidFill>
            <a:srgbClr val="e8f8f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4846320" y="128016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7a4a"/>
                </a:solidFill>
                <a:effectLst/>
                <a:uFillTx/>
                <a:latin typeface="Trebuchet MS"/>
                <a:ea typeface="Trebuchet MS"/>
              </a:rPr>
              <a:t>A solução Vite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4846320" y="1691640"/>
            <a:ext cx="374796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Serve o código como módulos ES nativos ao browser — sem bundle em desenvolvimento. HMR ultrarrápido independente do tamanho do projeto.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320040" y="3017520"/>
            <a:ext cx="2742120" cy="173628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0"/>
          <p:cNvSpPr/>
          <p:nvPr/>
        </p:nvSpPr>
        <p:spPr>
          <a:xfrm>
            <a:off x="320040" y="3017520"/>
            <a:ext cx="44640" cy="1736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1"/>
          <p:cNvSpPr/>
          <p:nvPr/>
        </p:nvSpPr>
        <p:spPr>
          <a:xfrm>
            <a:off x="1325880" y="2834640"/>
            <a:ext cx="730440" cy="364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1325880" y="28346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esbuild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411480" y="324612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esbuild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411480" y="3749040"/>
            <a:ext cx="25592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Pré-bundling 10–100× mais rápido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3246120" y="3017520"/>
            <a:ext cx="2742120" cy="173628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6"/>
          <p:cNvSpPr/>
          <p:nvPr/>
        </p:nvSpPr>
        <p:spPr>
          <a:xfrm>
            <a:off x="3246120" y="3017520"/>
            <a:ext cx="44640" cy="1736280"/>
          </a:xfrm>
          <a:prstGeom prst="rect">
            <a:avLst/>
          </a:prstGeom>
          <a:solidFill>
            <a:srgbClr val="4b32c3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7"/>
          <p:cNvSpPr/>
          <p:nvPr/>
        </p:nvSpPr>
        <p:spPr>
          <a:xfrm>
            <a:off x="4251960" y="2834640"/>
            <a:ext cx="730440" cy="364680"/>
          </a:xfrm>
          <a:prstGeom prst="rect">
            <a:avLst/>
          </a:prstGeom>
          <a:solidFill>
            <a:srgbClr val="4b32c3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8"/>
          <p:cNvSpPr/>
          <p:nvPr/>
        </p:nvSpPr>
        <p:spPr>
          <a:xfrm>
            <a:off x="4251960" y="28346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ESM nativo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3337560" y="324612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4b32c3"/>
                </a:solidFill>
                <a:effectLst/>
                <a:uFillTx/>
                <a:latin typeface="Trebuchet MS"/>
                <a:ea typeface="Trebuchet MS"/>
              </a:rPr>
              <a:t>ESM nativo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3337560" y="3749040"/>
            <a:ext cx="25592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Módulos carregados sob demanda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1"/>
          <p:cNvSpPr/>
          <p:nvPr/>
        </p:nvSpPr>
        <p:spPr>
          <a:xfrm>
            <a:off x="6172200" y="3017520"/>
            <a:ext cx="2742120" cy="173628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2"/>
          <p:cNvSpPr/>
          <p:nvPr/>
        </p:nvSpPr>
        <p:spPr>
          <a:xfrm>
            <a:off x="6172200" y="3017520"/>
            <a:ext cx="44640" cy="17362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3"/>
          <p:cNvSpPr/>
          <p:nvPr/>
        </p:nvSpPr>
        <p:spPr>
          <a:xfrm>
            <a:off x="7178040" y="2834640"/>
            <a:ext cx="730440" cy="364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4"/>
          <p:cNvSpPr/>
          <p:nvPr/>
        </p:nvSpPr>
        <p:spPr>
          <a:xfrm>
            <a:off x="7178040" y="28346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HMR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5"/>
          <p:cNvSpPr/>
          <p:nvPr/>
        </p:nvSpPr>
        <p:spPr>
          <a:xfrm>
            <a:off x="6263640" y="324612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7a4a"/>
                </a:solidFill>
                <a:effectLst/>
                <a:uFillTx/>
                <a:latin typeface="Trebuchet MS"/>
                <a:ea typeface="Trebuchet MS"/>
              </a:rPr>
              <a:t>HMR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6"/>
          <p:cNvSpPr/>
          <p:nvPr/>
        </p:nvSpPr>
        <p:spPr>
          <a:xfrm>
            <a:off x="6263640" y="3749040"/>
            <a:ext cx="25592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Atualiza só o módulo alterado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7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13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"/>
          <p:cNvSpPr/>
          <p:nvPr/>
        </p:nvSpPr>
        <p:spPr>
          <a:xfrm>
            <a:off x="274320" y="164520"/>
            <a:ext cx="88128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"/>
          <p:cNvSpPr/>
          <p:nvPr/>
        </p:nvSpPr>
        <p:spPr>
          <a:xfrm>
            <a:off x="274320" y="173880"/>
            <a:ext cx="881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VITE.JS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"/>
          <p:cNvSpPr/>
          <p:nvPr/>
        </p:nvSpPr>
        <p:spPr>
          <a:xfrm>
            <a:off x="320040" y="4572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Criando e executando projetos com Vite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"/>
          <p:cNvSpPr/>
          <p:nvPr/>
        </p:nvSpPr>
        <p:spPr>
          <a:xfrm>
            <a:off x="228600" y="1115640"/>
            <a:ext cx="4296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Projeto novo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5"/>
          <p:cNvSpPr/>
          <p:nvPr/>
        </p:nvSpPr>
        <p:spPr>
          <a:xfrm>
            <a:off x="228600" y="1435680"/>
            <a:ext cx="4296600" cy="1736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365760" y="1572840"/>
            <a:ext cx="40222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create vite@latest meu-projeto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-- --template react-ts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cd meu-projeto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dev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4663440" y="1115640"/>
            <a:ext cx="4205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Projeto existente (HTML/CSS/JS)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8"/>
          <p:cNvSpPr/>
          <p:nvPr/>
        </p:nvSpPr>
        <p:spPr>
          <a:xfrm>
            <a:off x="4663440" y="1435680"/>
            <a:ext cx="4205160" cy="1736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9"/>
          <p:cNvSpPr/>
          <p:nvPr/>
        </p:nvSpPr>
        <p:spPr>
          <a:xfrm>
            <a:off x="4800600" y="1572840"/>
            <a:ext cx="39308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init -y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--save-dev vite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package.json → scripts: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"dev":     "vite"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"build":   "vite build"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0"/>
          <p:cNvSpPr/>
          <p:nvPr/>
        </p:nvSpPr>
        <p:spPr>
          <a:xfrm>
            <a:off x="228600" y="333756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Scripts disponíveis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1"/>
          <p:cNvSpPr/>
          <p:nvPr/>
        </p:nvSpPr>
        <p:spPr>
          <a:xfrm>
            <a:off x="228600" y="3721680"/>
            <a:ext cx="8685720" cy="4194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365760" y="3776400"/>
            <a:ext cx="27421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dev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3"/>
          <p:cNvSpPr/>
          <p:nvPr/>
        </p:nvSpPr>
        <p:spPr>
          <a:xfrm>
            <a:off x="3200400" y="3776400"/>
            <a:ext cx="47538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Inicia servidor local com HMR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4"/>
          <p:cNvSpPr/>
          <p:nvPr/>
        </p:nvSpPr>
        <p:spPr>
          <a:xfrm>
            <a:off x="7955280" y="3776400"/>
            <a:ext cx="9133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:5173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5"/>
          <p:cNvSpPr/>
          <p:nvPr/>
        </p:nvSpPr>
        <p:spPr>
          <a:xfrm>
            <a:off x="228600" y="4160520"/>
            <a:ext cx="8685720" cy="41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6"/>
          <p:cNvSpPr/>
          <p:nvPr/>
        </p:nvSpPr>
        <p:spPr>
          <a:xfrm>
            <a:off x="365760" y="4215240"/>
            <a:ext cx="27421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build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7"/>
          <p:cNvSpPr/>
          <p:nvPr/>
        </p:nvSpPr>
        <p:spPr>
          <a:xfrm>
            <a:off x="3200400" y="4215240"/>
            <a:ext cx="47538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Gera build otimizado na pasta dist/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8"/>
          <p:cNvSpPr/>
          <p:nvPr/>
        </p:nvSpPr>
        <p:spPr>
          <a:xfrm>
            <a:off x="7955280" y="4215240"/>
            <a:ext cx="9133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dist/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9"/>
          <p:cNvSpPr/>
          <p:nvPr/>
        </p:nvSpPr>
        <p:spPr>
          <a:xfrm>
            <a:off x="228600" y="4599360"/>
            <a:ext cx="8685720" cy="4194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0"/>
          <p:cNvSpPr/>
          <p:nvPr/>
        </p:nvSpPr>
        <p:spPr>
          <a:xfrm>
            <a:off x="365760" y="4654440"/>
            <a:ext cx="27421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preview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1"/>
          <p:cNvSpPr/>
          <p:nvPr/>
        </p:nvSpPr>
        <p:spPr>
          <a:xfrm>
            <a:off x="3200400" y="4654440"/>
            <a:ext cx="47538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Visualiza o build localmente antes de publicar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2"/>
          <p:cNvSpPr/>
          <p:nvPr/>
        </p:nvSpPr>
        <p:spPr>
          <a:xfrm>
            <a:off x="7955280" y="4654440"/>
            <a:ext cx="9133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:4173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3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14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274320" y="164520"/>
            <a:ext cx="88128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274320" y="173880"/>
            <a:ext cx="881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VITE.JS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365760" y="5029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Vite vs Webpack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3200400" y="1143000"/>
            <a:ext cx="2742120" cy="4104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"/>
          <p:cNvSpPr/>
          <p:nvPr/>
        </p:nvSpPr>
        <p:spPr>
          <a:xfrm>
            <a:off x="3200400" y="1143000"/>
            <a:ext cx="2742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Vite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5"/>
          <p:cNvSpPr/>
          <p:nvPr/>
        </p:nvSpPr>
        <p:spPr>
          <a:xfrm>
            <a:off x="6035040" y="1143000"/>
            <a:ext cx="2833560" cy="410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6035040" y="1143000"/>
            <a:ext cx="28335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Webpack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274320" y="1600200"/>
            <a:ext cx="2879280" cy="52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8"/>
          <p:cNvSpPr/>
          <p:nvPr/>
        </p:nvSpPr>
        <p:spPr>
          <a:xfrm>
            <a:off x="365760" y="1691640"/>
            <a:ext cx="27421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Velocidade dev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9"/>
          <p:cNvSpPr/>
          <p:nvPr/>
        </p:nvSpPr>
        <p:spPr>
          <a:xfrm>
            <a:off x="3200400" y="1600200"/>
            <a:ext cx="2787840" cy="5202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0"/>
          <p:cNvSpPr/>
          <p:nvPr/>
        </p:nvSpPr>
        <p:spPr>
          <a:xfrm>
            <a:off x="3291840" y="1691640"/>
            <a:ext cx="26049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Muito rápida — ESM nativo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1"/>
          <p:cNvSpPr/>
          <p:nvPr/>
        </p:nvSpPr>
        <p:spPr>
          <a:xfrm>
            <a:off x="6035040" y="1600200"/>
            <a:ext cx="2833560" cy="5202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2"/>
          <p:cNvSpPr/>
          <p:nvPr/>
        </p:nvSpPr>
        <p:spPr>
          <a:xfrm>
            <a:off x="6126480" y="1691640"/>
            <a:ext cx="2650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Mais lenta — bundle completo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3"/>
          <p:cNvSpPr/>
          <p:nvPr/>
        </p:nvSpPr>
        <p:spPr>
          <a:xfrm>
            <a:off x="274320" y="2148840"/>
            <a:ext cx="2879280" cy="52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365760" y="2240280"/>
            <a:ext cx="27421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Build produção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5"/>
          <p:cNvSpPr/>
          <p:nvPr/>
        </p:nvSpPr>
        <p:spPr>
          <a:xfrm>
            <a:off x="3200400" y="2148840"/>
            <a:ext cx="2787840" cy="52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6"/>
          <p:cNvSpPr/>
          <p:nvPr/>
        </p:nvSpPr>
        <p:spPr>
          <a:xfrm>
            <a:off x="3291840" y="2240280"/>
            <a:ext cx="26049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Rollup (otimizado)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6035040" y="2148840"/>
            <a:ext cx="2833560" cy="52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8"/>
          <p:cNvSpPr/>
          <p:nvPr/>
        </p:nvSpPr>
        <p:spPr>
          <a:xfrm>
            <a:off x="6126480" y="2240280"/>
            <a:ext cx="2650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Bundle próprio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9"/>
          <p:cNvSpPr/>
          <p:nvPr/>
        </p:nvSpPr>
        <p:spPr>
          <a:xfrm>
            <a:off x="274320" y="2697480"/>
            <a:ext cx="2879280" cy="52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365760" y="2788920"/>
            <a:ext cx="27421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Configuração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1"/>
          <p:cNvSpPr/>
          <p:nvPr/>
        </p:nvSpPr>
        <p:spPr>
          <a:xfrm>
            <a:off x="3200400" y="2697480"/>
            <a:ext cx="2787840" cy="5202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3291840" y="2788920"/>
            <a:ext cx="26049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Mínima — zero config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3"/>
          <p:cNvSpPr/>
          <p:nvPr/>
        </p:nvSpPr>
        <p:spPr>
          <a:xfrm>
            <a:off x="6035040" y="2697480"/>
            <a:ext cx="2833560" cy="5202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4"/>
          <p:cNvSpPr/>
          <p:nvPr/>
        </p:nvSpPr>
        <p:spPr>
          <a:xfrm>
            <a:off x="6126480" y="2788920"/>
            <a:ext cx="2650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Extensível, porém verbosa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5"/>
          <p:cNvSpPr/>
          <p:nvPr/>
        </p:nvSpPr>
        <p:spPr>
          <a:xfrm>
            <a:off x="274320" y="3246120"/>
            <a:ext cx="2879280" cy="52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6"/>
          <p:cNvSpPr/>
          <p:nvPr/>
        </p:nvSpPr>
        <p:spPr>
          <a:xfrm>
            <a:off x="365760" y="3337560"/>
            <a:ext cx="27421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Curva aprendizado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7"/>
          <p:cNvSpPr/>
          <p:nvPr/>
        </p:nvSpPr>
        <p:spPr>
          <a:xfrm>
            <a:off x="3200400" y="3246120"/>
            <a:ext cx="2787840" cy="52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8"/>
          <p:cNvSpPr/>
          <p:nvPr/>
        </p:nvSpPr>
        <p:spPr>
          <a:xfrm>
            <a:off x="3291840" y="3337560"/>
            <a:ext cx="26049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Baixa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9"/>
          <p:cNvSpPr/>
          <p:nvPr/>
        </p:nvSpPr>
        <p:spPr>
          <a:xfrm>
            <a:off x="6035040" y="3246120"/>
            <a:ext cx="2833560" cy="52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0"/>
          <p:cNvSpPr/>
          <p:nvPr/>
        </p:nvSpPr>
        <p:spPr>
          <a:xfrm>
            <a:off x="6126480" y="3337560"/>
            <a:ext cx="2650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Média a alta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1"/>
          <p:cNvSpPr/>
          <p:nvPr/>
        </p:nvSpPr>
        <p:spPr>
          <a:xfrm>
            <a:off x="274320" y="3794760"/>
            <a:ext cx="2879280" cy="52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2"/>
          <p:cNvSpPr/>
          <p:nvPr/>
        </p:nvSpPr>
        <p:spPr>
          <a:xfrm>
            <a:off x="365760" y="3886200"/>
            <a:ext cx="27421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Ecossistema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3"/>
          <p:cNvSpPr/>
          <p:nvPr/>
        </p:nvSpPr>
        <p:spPr>
          <a:xfrm>
            <a:off x="3200400" y="3794760"/>
            <a:ext cx="2787840" cy="5202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4"/>
          <p:cNvSpPr/>
          <p:nvPr/>
        </p:nvSpPr>
        <p:spPr>
          <a:xfrm>
            <a:off x="3291840" y="3886200"/>
            <a:ext cx="26049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Crescente — React, Vue, Svelte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5"/>
          <p:cNvSpPr/>
          <p:nvPr/>
        </p:nvSpPr>
        <p:spPr>
          <a:xfrm>
            <a:off x="6035040" y="3794760"/>
            <a:ext cx="2833560" cy="5202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6"/>
          <p:cNvSpPr/>
          <p:nvPr/>
        </p:nvSpPr>
        <p:spPr>
          <a:xfrm>
            <a:off x="6126480" y="3886200"/>
            <a:ext cx="2650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Maduro — muito usado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7"/>
          <p:cNvSpPr/>
          <p:nvPr/>
        </p:nvSpPr>
        <p:spPr>
          <a:xfrm>
            <a:off x="274320" y="4343400"/>
            <a:ext cx="2879280" cy="52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8"/>
          <p:cNvSpPr/>
          <p:nvPr/>
        </p:nvSpPr>
        <p:spPr>
          <a:xfrm>
            <a:off x="365760" y="4434840"/>
            <a:ext cx="27421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Quando usar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9"/>
          <p:cNvSpPr/>
          <p:nvPr/>
        </p:nvSpPr>
        <p:spPr>
          <a:xfrm>
            <a:off x="3200400" y="4343400"/>
            <a:ext cx="2787840" cy="52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0"/>
          <p:cNvSpPr/>
          <p:nvPr/>
        </p:nvSpPr>
        <p:spPr>
          <a:xfrm>
            <a:off x="3291840" y="4434840"/>
            <a:ext cx="26049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Projetos novos e prototipagem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1"/>
          <p:cNvSpPr/>
          <p:nvPr/>
        </p:nvSpPr>
        <p:spPr>
          <a:xfrm>
            <a:off x="6035040" y="4343400"/>
            <a:ext cx="2833560" cy="52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2"/>
          <p:cNvSpPr/>
          <p:nvPr/>
        </p:nvSpPr>
        <p:spPr>
          <a:xfrm>
            <a:off x="6126480" y="4434840"/>
            <a:ext cx="26506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Projetos legados / custom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3"/>
          <p:cNvSpPr/>
          <p:nvPr/>
        </p:nvSpPr>
        <p:spPr>
          <a:xfrm>
            <a:off x="274320" y="4846320"/>
            <a:ext cx="8594280" cy="2001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4"/>
          <p:cNvSpPr/>
          <p:nvPr/>
        </p:nvSpPr>
        <p:spPr>
          <a:xfrm>
            <a:off x="365760" y="4846320"/>
            <a:ext cx="841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Usaremos Vite em todos os projetos desta disciplina  →  rápido, moderno, integração nativa com React + TypeScript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5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15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0" y="0"/>
            <a:ext cx="53640" cy="51426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"/>
          <p:cNvSpPr/>
          <p:nvPr/>
        </p:nvSpPr>
        <p:spPr>
          <a:xfrm>
            <a:off x="274320" y="164520"/>
            <a:ext cx="105516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274320" y="173880"/>
            <a:ext cx="1055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ATIVIDADE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320040" y="457200"/>
            <a:ext cx="8228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Atividade — Repositório Individual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228600" y="1234440"/>
            <a:ext cx="4205160" cy="10962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5"/>
          <p:cNvSpPr/>
          <p:nvPr/>
        </p:nvSpPr>
        <p:spPr>
          <a:xfrm>
            <a:off x="338400" y="1581840"/>
            <a:ext cx="401400" cy="4014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338400" y="158184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822960" y="132588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Criar branch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8"/>
          <p:cNvSpPr/>
          <p:nvPr/>
        </p:nvSpPr>
        <p:spPr>
          <a:xfrm>
            <a:off x="822960" y="1764720"/>
            <a:ext cx="347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feature-ferramentas-desenvolvimento a partir da main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9"/>
          <p:cNvSpPr/>
          <p:nvPr/>
        </p:nvSpPr>
        <p:spPr>
          <a:xfrm>
            <a:off x="4663440" y="1234440"/>
            <a:ext cx="4205160" cy="10962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0"/>
          <p:cNvSpPr/>
          <p:nvPr/>
        </p:nvSpPr>
        <p:spPr>
          <a:xfrm>
            <a:off x="4773240" y="1581840"/>
            <a:ext cx="401400" cy="4014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1"/>
          <p:cNvSpPr/>
          <p:nvPr/>
        </p:nvSpPr>
        <p:spPr>
          <a:xfrm>
            <a:off x="4773240" y="158184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2"/>
          <p:cNvSpPr/>
          <p:nvPr/>
        </p:nvSpPr>
        <p:spPr>
          <a:xfrm>
            <a:off x="5257800" y="132588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Adicionar npm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3"/>
          <p:cNvSpPr/>
          <p:nvPr/>
        </p:nvSpPr>
        <p:spPr>
          <a:xfrm>
            <a:off x="5257800" y="1764720"/>
            <a:ext cx="347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npm init -y no projeto das aulas anteriores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4"/>
          <p:cNvSpPr/>
          <p:nvPr/>
        </p:nvSpPr>
        <p:spPr>
          <a:xfrm>
            <a:off x="228600" y="2468880"/>
            <a:ext cx="4205160" cy="10962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5"/>
          <p:cNvSpPr/>
          <p:nvPr/>
        </p:nvSpPr>
        <p:spPr>
          <a:xfrm>
            <a:off x="338400" y="2816280"/>
            <a:ext cx="401400" cy="4014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6"/>
          <p:cNvSpPr/>
          <p:nvPr/>
        </p:nvSpPr>
        <p:spPr>
          <a:xfrm>
            <a:off x="338400" y="281628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7"/>
          <p:cNvSpPr/>
          <p:nvPr/>
        </p:nvSpPr>
        <p:spPr>
          <a:xfrm>
            <a:off x="822960" y="256032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Configurar .gitignore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8"/>
          <p:cNvSpPr/>
          <p:nvPr/>
        </p:nvSpPr>
        <p:spPr>
          <a:xfrm>
            <a:off x="822960" y="2999160"/>
            <a:ext cx="347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Ignorar node_modules, .env e arquivos de build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9"/>
          <p:cNvSpPr/>
          <p:nvPr/>
        </p:nvSpPr>
        <p:spPr>
          <a:xfrm>
            <a:off x="4663440" y="2468880"/>
            <a:ext cx="4205160" cy="10962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0"/>
          <p:cNvSpPr/>
          <p:nvPr/>
        </p:nvSpPr>
        <p:spPr>
          <a:xfrm>
            <a:off x="4773240" y="2816280"/>
            <a:ext cx="401400" cy="4014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1"/>
          <p:cNvSpPr/>
          <p:nvPr/>
        </p:nvSpPr>
        <p:spPr>
          <a:xfrm>
            <a:off x="4773240" y="281628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2"/>
          <p:cNvSpPr/>
          <p:nvPr/>
        </p:nvSpPr>
        <p:spPr>
          <a:xfrm>
            <a:off x="5257800" y="256032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Instalar ESLint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3"/>
          <p:cNvSpPr/>
          <p:nvPr/>
        </p:nvSpPr>
        <p:spPr>
          <a:xfrm>
            <a:off x="5257800" y="2999160"/>
            <a:ext cx="347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Configurar scripts de lint no package.json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4"/>
          <p:cNvSpPr/>
          <p:nvPr/>
        </p:nvSpPr>
        <p:spPr>
          <a:xfrm>
            <a:off x="228600" y="3703320"/>
            <a:ext cx="4205160" cy="10962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5"/>
          <p:cNvSpPr/>
          <p:nvPr/>
        </p:nvSpPr>
        <p:spPr>
          <a:xfrm>
            <a:off x="338400" y="4050720"/>
            <a:ext cx="401400" cy="4014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6"/>
          <p:cNvSpPr/>
          <p:nvPr/>
        </p:nvSpPr>
        <p:spPr>
          <a:xfrm>
            <a:off x="338400" y="405072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5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7"/>
          <p:cNvSpPr/>
          <p:nvPr/>
        </p:nvSpPr>
        <p:spPr>
          <a:xfrm>
            <a:off x="822960" y="379476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Instalar Prettier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8"/>
          <p:cNvSpPr/>
          <p:nvPr/>
        </p:nvSpPr>
        <p:spPr>
          <a:xfrm>
            <a:off x="822960" y="4233600"/>
            <a:ext cx="347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Configurar scripts de format no package.json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9"/>
          <p:cNvSpPr/>
          <p:nvPr/>
        </p:nvSpPr>
        <p:spPr>
          <a:xfrm>
            <a:off x="4663440" y="3703320"/>
            <a:ext cx="4205160" cy="10962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0"/>
          <p:cNvSpPr/>
          <p:nvPr/>
        </p:nvSpPr>
        <p:spPr>
          <a:xfrm>
            <a:off x="4773240" y="4050720"/>
            <a:ext cx="401400" cy="4014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1"/>
          <p:cNvSpPr/>
          <p:nvPr/>
        </p:nvSpPr>
        <p:spPr>
          <a:xfrm>
            <a:off x="4773240" y="405072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6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2"/>
          <p:cNvSpPr/>
          <p:nvPr/>
        </p:nvSpPr>
        <p:spPr>
          <a:xfrm>
            <a:off x="5257800" y="379476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Configurar Husky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3"/>
          <p:cNvSpPr/>
          <p:nvPr/>
        </p:nvSpPr>
        <p:spPr>
          <a:xfrm>
            <a:off x="5257800" y="4233600"/>
            <a:ext cx="347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Hook pre-commit com lint-staged — teste de falha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4"/>
          <p:cNvSpPr/>
          <p:nvPr/>
        </p:nvSpPr>
        <p:spPr>
          <a:xfrm>
            <a:off x="182880" y="4680000"/>
            <a:ext cx="8685720" cy="38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5"/>
          <p:cNvSpPr/>
          <p:nvPr/>
        </p:nvSpPr>
        <p:spPr>
          <a:xfrm>
            <a:off x="360000" y="4680000"/>
            <a:ext cx="8411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Entrega:  Repasse o NOME + link do repositório GitHub no whatsapp da turma.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6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16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0"/>
          <p:cNvSpPr/>
          <p:nvPr/>
        </p:nvSpPr>
        <p:spPr>
          <a:xfrm>
            <a:off x="274320" y="164520"/>
            <a:ext cx="1228680" cy="2548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274320" y="173880"/>
            <a:ext cx="1228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REFERÊNCIAS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"/>
          <p:cNvSpPr/>
          <p:nvPr/>
        </p:nvSpPr>
        <p:spPr>
          <a:xfrm>
            <a:off x="365760" y="5029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Materiais de estudo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274320" y="1188720"/>
            <a:ext cx="4159440" cy="7488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274320" y="1188720"/>
            <a:ext cx="44640" cy="748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411480" y="12344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Node.js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411480" y="150876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nodejs.org/pt-br/docs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7"/>
          <p:cNvSpPr/>
          <p:nvPr/>
        </p:nvSpPr>
        <p:spPr>
          <a:xfrm>
            <a:off x="4754880" y="1188720"/>
            <a:ext cx="4159440" cy="7488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8"/>
          <p:cNvSpPr/>
          <p:nvPr/>
        </p:nvSpPr>
        <p:spPr>
          <a:xfrm>
            <a:off x="4754880" y="1188720"/>
            <a:ext cx="44640" cy="7488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9"/>
          <p:cNvSpPr/>
          <p:nvPr/>
        </p:nvSpPr>
        <p:spPr>
          <a:xfrm>
            <a:off x="4892040" y="12344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npm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0"/>
          <p:cNvSpPr/>
          <p:nvPr/>
        </p:nvSpPr>
        <p:spPr>
          <a:xfrm>
            <a:off x="4892040" y="150876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docs.npmjs.com/cli/v10/commands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1"/>
          <p:cNvSpPr/>
          <p:nvPr/>
        </p:nvSpPr>
        <p:spPr>
          <a:xfrm>
            <a:off x="274320" y="2103120"/>
            <a:ext cx="4159440" cy="7488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2"/>
          <p:cNvSpPr/>
          <p:nvPr/>
        </p:nvSpPr>
        <p:spPr>
          <a:xfrm>
            <a:off x="274320" y="2103120"/>
            <a:ext cx="44640" cy="74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3"/>
          <p:cNvSpPr/>
          <p:nvPr/>
        </p:nvSpPr>
        <p:spPr>
          <a:xfrm>
            <a:off x="411480" y="21488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Git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4"/>
          <p:cNvSpPr/>
          <p:nvPr/>
        </p:nvSpPr>
        <p:spPr>
          <a:xfrm>
            <a:off x="411480" y="242316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git-scm.com/book/pt-br/v2  (Pro Git em português)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5"/>
          <p:cNvSpPr/>
          <p:nvPr/>
        </p:nvSpPr>
        <p:spPr>
          <a:xfrm>
            <a:off x="4754880" y="2103120"/>
            <a:ext cx="4159440" cy="7488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6"/>
          <p:cNvSpPr/>
          <p:nvPr/>
        </p:nvSpPr>
        <p:spPr>
          <a:xfrm>
            <a:off x="4754880" y="2103120"/>
            <a:ext cx="44640" cy="74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7"/>
          <p:cNvSpPr/>
          <p:nvPr/>
        </p:nvSpPr>
        <p:spPr>
          <a:xfrm>
            <a:off x="4892040" y="21488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7ae60"/>
                </a:solidFill>
                <a:effectLst/>
                <a:uFillTx/>
                <a:latin typeface="Calibri"/>
                <a:ea typeface="Calibri"/>
              </a:rPr>
              <a:t>Git interativo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8"/>
          <p:cNvSpPr/>
          <p:nvPr/>
        </p:nvSpPr>
        <p:spPr>
          <a:xfrm>
            <a:off x="4892040" y="242316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learngitbranching.js.org/?locale=pt_BR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9"/>
          <p:cNvSpPr/>
          <p:nvPr/>
        </p:nvSpPr>
        <p:spPr>
          <a:xfrm>
            <a:off x="274320" y="3017520"/>
            <a:ext cx="4159440" cy="7488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20"/>
          <p:cNvSpPr/>
          <p:nvPr/>
        </p:nvSpPr>
        <p:spPr>
          <a:xfrm>
            <a:off x="274320" y="3017520"/>
            <a:ext cx="44640" cy="748800"/>
          </a:xfrm>
          <a:prstGeom prst="rect">
            <a:avLst/>
          </a:prstGeom>
          <a:solidFill>
            <a:srgbClr val="4b32c3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1"/>
          <p:cNvSpPr/>
          <p:nvPr/>
        </p:nvSpPr>
        <p:spPr>
          <a:xfrm>
            <a:off x="411480" y="30632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b32c3"/>
                </a:solidFill>
                <a:effectLst/>
                <a:uFillTx/>
                <a:latin typeface="Calibri"/>
                <a:ea typeface="Calibri"/>
              </a:rPr>
              <a:t>ESLint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2"/>
          <p:cNvSpPr/>
          <p:nvPr/>
        </p:nvSpPr>
        <p:spPr>
          <a:xfrm>
            <a:off x="411480" y="333756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eslint.org/docs/latest/use/getting-started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3"/>
          <p:cNvSpPr/>
          <p:nvPr/>
        </p:nvSpPr>
        <p:spPr>
          <a:xfrm>
            <a:off x="4754880" y="3017520"/>
            <a:ext cx="4159440" cy="7488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24"/>
          <p:cNvSpPr/>
          <p:nvPr/>
        </p:nvSpPr>
        <p:spPr>
          <a:xfrm>
            <a:off x="4754880" y="3017520"/>
            <a:ext cx="44640" cy="74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5"/>
          <p:cNvSpPr/>
          <p:nvPr/>
        </p:nvSpPr>
        <p:spPr>
          <a:xfrm>
            <a:off x="4892040" y="30632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67e22"/>
                </a:solidFill>
                <a:effectLst/>
                <a:uFillTx/>
                <a:latin typeface="Calibri"/>
                <a:ea typeface="Calibri"/>
              </a:rPr>
              <a:t>Prettier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6"/>
          <p:cNvSpPr/>
          <p:nvPr/>
        </p:nvSpPr>
        <p:spPr>
          <a:xfrm>
            <a:off x="4892040" y="333756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prettier.io/docs/en/install.html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27"/>
          <p:cNvSpPr/>
          <p:nvPr/>
        </p:nvSpPr>
        <p:spPr>
          <a:xfrm>
            <a:off x="274320" y="3931920"/>
            <a:ext cx="4159440" cy="7488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28"/>
          <p:cNvSpPr/>
          <p:nvPr/>
        </p:nvSpPr>
        <p:spPr>
          <a:xfrm>
            <a:off x="274320" y="3931920"/>
            <a:ext cx="44640" cy="748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9"/>
          <p:cNvSpPr/>
          <p:nvPr/>
        </p:nvSpPr>
        <p:spPr>
          <a:xfrm>
            <a:off x="411480" y="39776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Vite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30"/>
          <p:cNvSpPr/>
          <p:nvPr/>
        </p:nvSpPr>
        <p:spPr>
          <a:xfrm>
            <a:off x="411480" y="425196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vitejs.dev/guide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31"/>
          <p:cNvSpPr/>
          <p:nvPr/>
        </p:nvSpPr>
        <p:spPr>
          <a:xfrm>
            <a:off x="4754880" y="3931920"/>
            <a:ext cx="4159440" cy="74880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2"/>
          <p:cNvSpPr/>
          <p:nvPr/>
        </p:nvSpPr>
        <p:spPr>
          <a:xfrm>
            <a:off x="4754880" y="3931920"/>
            <a:ext cx="44640" cy="748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3"/>
          <p:cNvSpPr/>
          <p:nvPr/>
        </p:nvSpPr>
        <p:spPr>
          <a:xfrm>
            <a:off x="4892040" y="39776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4ad"/>
                </a:solidFill>
                <a:effectLst/>
                <a:uFillTx/>
                <a:latin typeface="Calibri"/>
                <a:ea typeface="Calibri"/>
              </a:rPr>
              <a:t>Commits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4"/>
          <p:cNvSpPr/>
          <p:nvPr/>
        </p:nvSpPr>
        <p:spPr>
          <a:xfrm>
            <a:off x="4892040" y="425196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conventionalcommits.org/pt-br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35"/>
          <p:cNvSpPr/>
          <p:nvPr/>
        </p:nvSpPr>
        <p:spPr>
          <a:xfrm>
            <a:off x="8412480" y="4754880"/>
            <a:ext cx="639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17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0"/>
          <p:cNvSpPr/>
          <p:nvPr/>
        </p:nvSpPr>
        <p:spPr>
          <a:xfrm>
            <a:off x="-914400" y="3200400"/>
            <a:ext cx="4570920" cy="4570920"/>
          </a:xfrm>
          <a:prstGeom prst="ellipse">
            <a:avLst/>
          </a:prstGeom>
          <a:solidFill>
            <a:srgbClr val="1b3a6b">
              <a:alpha val="30000"/>
            </a:srgbClr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"/>
          <p:cNvSpPr/>
          <p:nvPr/>
        </p:nvSpPr>
        <p:spPr>
          <a:xfrm>
            <a:off x="6400800" y="-914400"/>
            <a:ext cx="4113720" cy="4113720"/>
          </a:xfrm>
          <a:prstGeom prst="ellipse">
            <a:avLst/>
          </a:prstGeom>
          <a:solidFill>
            <a:srgbClr val="e87722">
              <a:alpha val="20000"/>
            </a:srgbClr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"/>
          <p:cNvSpPr/>
          <p:nvPr/>
        </p:nvSpPr>
        <p:spPr>
          <a:xfrm>
            <a:off x="914400" y="54864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Recapitulando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3"/>
          <p:cNvSpPr/>
          <p:nvPr/>
        </p:nvSpPr>
        <p:spPr>
          <a:xfrm>
            <a:off x="731520" y="1097280"/>
            <a:ext cx="76798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Você agora tem um ambiente</a:t>
            </a:r>
            <a:endParaRPr b="0" lang="pt-BR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 desenvolvimento profissional</a:t>
            </a:r>
            <a:endParaRPr b="0" lang="pt-BR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4"/>
          <p:cNvSpPr/>
          <p:nvPr/>
        </p:nvSpPr>
        <p:spPr>
          <a:xfrm>
            <a:off x="914400" y="2697480"/>
            <a:ext cx="1141920" cy="474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5"/>
          <p:cNvSpPr/>
          <p:nvPr/>
        </p:nvSpPr>
        <p:spPr>
          <a:xfrm>
            <a:off x="914400" y="2697480"/>
            <a:ext cx="11419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npm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6"/>
          <p:cNvSpPr/>
          <p:nvPr/>
        </p:nvSpPr>
        <p:spPr>
          <a:xfrm>
            <a:off x="2194560" y="2697480"/>
            <a:ext cx="1141920" cy="474480"/>
          </a:xfrm>
          <a:prstGeom prst="rect">
            <a:avLst/>
          </a:prstGeom>
          <a:solidFill>
            <a:srgbClr val="162b50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7"/>
          <p:cNvSpPr/>
          <p:nvPr/>
        </p:nvSpPr>
        <p:spPr>
          <a:xfrm>
            <a:off x="2194560" y="2697480"/>
            <a:ext cx="11419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Git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8"/>
          <p:cNvSpPr/>
          <p:nvPr/>
        </p:nvSpPr>
        <p:spPr>
          <a:xfrm>
            <a:off x="3474720" y="2697480"/>
            <a:ext cx="1141920" cy="474480"/>
          </a:xfrm>
          <a:prstGeom prst="rect">
            <a:avLst/>
          </a:prstGeom>
          <a:solidFill>
            <a:srgbClr val="162b50"/>
          </a:solidFill>
          <a:ln w="12700">
            <a:solidFill>
              <a:srgbClr val="4b9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9"/>
          <p:cNvSpPr/>
          <p:nvPr/>
        </p:nvSpPr>
        <p:spPr>
          <a:xfrm>
            <a:off x="3474720" y="2697480"/>
            <a:ext cx="11419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b9fd4"/>
                </a:solidFill>
                <a:effectLst/>
                <a:uFillTx/>
                <a:latin typeface="Trebuchet MS"/>
                <a:ea typeface="Trebuchet MS"/>
              </a:rPr>
              <a:t>VS Code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0"/>
          <p:cNvSpPr/>
          <p:nvPr/>
        </p:nvSpPr>
        <p:spPr>
          <a:xfrm>
            <a:off x="4754880" y="2697480"/>
            <a:ext cx="1141920" cy="474480"/>
          </a:xfrm>
          <a:prstGeom prst="rect">
            <a:avLst/>
          </a:prstGeom>
          <a:solidFill>
            <a:srgbClr val="162b50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1"/>
          <p:cNvSpPr/>
          <p:nvPr/>
        </p:nvSpPr>
        <p:spPr>
          <a:xfrm>
            <a:off x="4754880" y="2697480"/>
            <a:ext cx="11419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b32c3"/>
                </a:solidFill>
                <a:effectLst/>
                <a:uFillTx/>
                <a:latin typeface="Trebuchet MS"/>
                <a:ea typeface="Trebuchet MS"/>
              </a:rPr>
              <a:t>ESLint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2"/>
          <p:cNvSpPr/>
          <p:nvPr/>
        </p:nvSpPr>
        <p:spPr>
          <a:xfrm>
            <a:off x="6035040" y="2697480"/>
            <a:ext cx="1141920" cy="474480"/>
          </a:xfrm>
          <a:prstGeom prst="rect">
            <a:avLst/>
          </a:prstGeom>
          <a:solidFill>
            <a:srgbClr val="162b50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3"/>
          <p:cNvSpPr/>
          <p:nvPr/>
        </p:nvSpPr>
        <p:spPr>
          <a:xfrm>
            <a:off x="6035040" y="2697480"/>
            <a:ext cx="11419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Prettier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4"/>
          <p:cNvSpPr/>
          <p:nvPr/>
        </p:nvSpPr>
        <p:spPr>
          <a:xfrm>
            <a:off x="7315200" y="2697480"/>
            <a:ext cx="1141920" cy="474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5"/>
          <p:cNvSpPr/>
          <p:nvPr/>
        </p:nvSpPr>
        <p:spPr>
          <a:xfrm>
            <a:off x="7315200" y="2697480"/>
            <a:ext cx="11419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Vite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2026-03-22T00:53:00Z</dcterms:created>
  <dc:creator>PptxGenJS</dc:creator>
  <dc:description/>
  <dc:language>pt-BR</dc:language>
  <cp:lastModifiedBy/>
  <dcterms:modified xsi:type="dcterms:W3CDTF">2026-04-02T16:10:03Z</dcterms:modified>
  <cp:revision>9</cp:revision>
  <dc:subject>PptxGenJS Presentation</dc:subject>
  <dc:title>Ferramentas de Desenvolvimento Moderno — Aula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