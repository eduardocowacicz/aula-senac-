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slideMasters/_rels/slideMaster1.xml.rels" ContentType="application/vnd.openxmlformats-package.relationships+xml"/>
  <Override PartName="/ppt/slideMasters/slideMaster1.xml" ContentType="application/vnd.openxmlformats-officedocument.presentationml.slideMaster+xml"/>
  <Override PartName="/ppt/presProps.xml" ContentType="application/vnd.openxmlformats-officedocument.presentationml.presProps+xml"/>
  <Override PartName="/ppt/theme/theme1.xml" ContentType="application/vnd.openxmlformats-officedocument.theme+xml"/>
  <Override PartName="/ppt/theme/theme2.xml" ContentType="application/vnd.openxmlformats-officedocument.theme+xml"/>
  <Override PartName="/ppt/slideLayouts/_rels/slideLayout1.xml.rels" ContentType="application/vnd.openxmlformats-package.relationships+xml"/>
  <Override PartName="/ppt/slideLayouts/slideLayout1.xml" ContentType="application/vnd.openxmlformats-officedocument.presentationml.slideLayout+xml"/>
  <Override PartName="/ppt/_rels/presentation.xml.rels" ContentType="application/vnd.openxmlformats-package.relationships+xml"/>
  <Override PartName="/ppt/notesMasters/_rels/notesMaster1.xml.rels" ContentType="application/vnd.openxmlformats-package.relationships+xml"/>
  <Override PartName="/ppt/notesMasters/notesMaster1.xml" ContentType="application/vnd.openxmlformats-officedocument.presentationml.notesMaster+xml"/>
  <Override PartName="/ppt/media/image1.png" ContentType="image/png"/>
  <Override PartName="/ppt/media/image2.png" ContentType="image/png"/>
  <Override PartName="/ppt/media/image3.png" ContentType="image/png"/>
  <Override PartName="/ppt/media/image4.png" ContentType="image/png"/>
  <Override PartName="/ppt/slides/slide1.xml" ContentType="application/vnd.openxmlformats-officedocument.presentationml.slide+xml"/>
  <Override PartName="/ppt/slides/_rels/slide9.xml.rels" ContentType="application/vnd.openxmlformats-package.relationships+xml"/>
  <Override PartName="/ppt/slides/_rels/slide8.xml.rels" ContentType="application/vnd.openxmlformats-package.relationships+xml"/>
  <Override PartName="/ppt/slides/_rels/slide10.xml.rels" ContentType="application/vnd.openxmlformats-package.relationships+xml"/>
  <Override PartName="/ppt/slides/_rels/slide7.xml.rels" ContentType="application/vnd.openxmlformats-package.relationships+xml"/>
  <Override PartName="/ppt/slides/_rels/slide6.xml.rels" ContentType="application/vnd.openxmlformats-package.relationships+xml"/>
  <Override PartName="/ppt/slides/_rels/slide5.xml.rels" ContentType="application/vnd.openxmlformats-package.relationships+xml"/>
  <Override PartName="/ppt/slides/_rels/slide4.xml.rels" ContentType="application/vnd.openxmlformats-package.relationships+xml"/>
  <Override PartName="/ppt/slides/_rels/slide3.xml.rels" ContentType="application/vnd.openxmlformats-package.relationships+xml"/>
  <Override PartName="/ppt/slides/_rels/slide2.xml.rels" ContentType="application/vnd.openxmlformats-package.relationships+xml"/>
  <Override PartName="/ppt/slides/_rels/slide1.xml.rels" ContentType="application/vnd.openxmlformats-package.relationships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10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_rels/notesSlide9.xml.rels" ContentType="application/vnd.openxmlformats-package.relationships+xml"/>
  <Override PartName="/ppt/notesSlides/_rels/notesSlide10.xml.rels" ContentType="application/vnd.openxmlformats-package.relationships+xml"/>
  <Override PartName="/ppt/notesSlides/_rels/notesSlide3.xml.rels" ContentType="application/vnd.openxmlformats-package.relationships+xml"/>
  <Override PartName="/ppt/notesSlides/_rels/notesSlide8.xml.rels" ContentType="application/vnd.openxmlformats-package.relationships+xml"/>
  <Override PartName="/ppt/notesSlides/_rels/notesSlide7.xml.rels" ContentType="application/vnd.openxmlformats-package.relationships+xml"/>
  <Override PartName="/ppt/notesSlides/_rels/notesSlide6.xml.rels" ContentType="application/vnd.openxmlformats-package.relationships+xml"/>
  <Override PartName="/ppt/notesSlides/_rels/notesSlide5.xml.rels" ContentType="application/vnd.openxmlformats-package.relationships+xml"/>
  <Override PartName="/ppt/notesSlides/_rels/notesSlide4.xml.rels" ContentType="application/vnd.openxmlformats-package.relationships+xml"/>
  <Override PartName="/ppt/notesSlides/_rels/notesSlide2.xml.rels" ContentType="application/vnd.openxmlformats-package.relationships+xml"/>
  <Override PartName="/ppt/notesSlides/_rels/notesSlide1.xml.rels" ContentType="application/vnd.openxmlformats-package.relationships+xml"/>
  <Override PartName="/ppt/notesSlides/notesSlide9.xml" ContentType="application/vnd.openxmlformats-officedocument.presentationml.notesSlid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</p:sldMasterIdLst>
  <p:notesMasterIdLst>
    <p:notesMasterId r:id="rId3"/>
  </p:notesMasterIdLst>
  <p:sldIdLst>
    <p:sldId id="256" r:id="rId4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</p:sldIdLst>
  <p:sldSz cx="9144000" cy="5143500"/>
  <p:notesSz cx="5143500" cy="91440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notesMaster" Target="notesMasters/notesMaster1.xml"/><Relationship Id="rId4" Type="http://schemas.openxmlformats.org/officeDocument/2006/relationships/slide" Target="slides/slide1.xml"/><Relationship Id="rId5" Type="http://schemas.openxmlformats.org/officeDocument/2006/relationships/slide" Target="slides/slide2.xml"/><Relationship Id="rId6" Type="http://schemas.openxmlformats.org/officeDocument/2006/relationships/slide" Target="slides/slide3.xml"/><Relationship Id="rId7" Type="http://schemas.openxmlformats.org/officeDocument/2006/relationships/slide" Target="slides/slide4.xml"/><Relationship Id="rId8" Type="http://schemas.openxmlformats.org/officeDocument/2006/relationships/slide" Target="slides/slide5.xml"/><Relationship Id="rId9" Type="http://schemas.openxmlformats.org/officeDocument/2006/relationships/slide" Target="slides/slide6.xml"/><Relationship Id="rId10" Type="http://schemas.openxmlformats.org/officeDocument/2006/relationships/slide" Target="slides/slide7.xml"/><Relationship Id="rId11" Type="http://schemas.openxmlformats.org/officeDocument/2006/relationships/slide" Target="slides/slide8.xml"/><Relationship Id="rId12" Type="http://schemas.openxmlformats.org/officeDocument/2006/relationships/slide" Target="slides/slide9.xml"/><Relationship Id="rId13" Type="http://schemas.openxmlformats.org/officeDocument/2006/relationships/slide" Target="slides/slide10.xml"/><Relationship Id="rId14" Type="http://schemas.openxmlformats.org/officeDocument/2006/relationships/presProps" Target="presProps.xml"/>
</Relationships>
</file>

<file path=ppt/notesMasters/_rels/notesMaster1.xml.rels><?xml version="1.0" encoding="UTF-8"?>
<Relationships xmlns="http://schemas.openxmlformats.org/package/2006/relationships"><Relationship Id="rId1" Type="http://schemas.openxmlformats.org/officeDocument/2006/relationships/theme" Target="../theme/theme2.xml"/>
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sldImg"/>
          </p:nvPr>
        </p:nvSpPr>
        <p:spPr>
          <a:xfrm>
            <a:off x="216000" y="812520"/>
            <a:ext cx="7127280" cy="4008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/>
            <a:r>
              <a:rPr b="0" lang="pt-BR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Clique para mover o slide</a:t>
            </a:r>
            <a:endParaRPr b="0" lang="pt-BR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body"/>
          </p:nvPr>
        </p:nvSpPr>
        <p:spPr>
          <a:xfrm>
            <a:off x="756000" y="5078520"/>
            <a:ext cx="6047640" cy="4811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indent="0">
              <a:buNone/>
            </a:pPr>
            <a:r>
              <a:rPr b="0" lang="pt-BR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Clique para editar o formato de notas</a:t>
            </a:r>
            <a:endParaRPr b="0" lang="pt-BR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hdr"/>
          </p:nvPr>
        </p:nvSpPr>
        <p:spPr>
          <a:xfrm>
            <a:off x="0" y="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indent="0">
              <a:buNone/>
            </a:pPr>
            <a:r>
              <a:rPr b="0" lang="pt-BR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 </a:t>
            </a:r>
            <a:endParaRPr b="0" lang="pt-BR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dt" idx="1"/>
          </p:nvPr>
        </p:nvSpPr>
        <p:spPr>
          <a:xfrm>
            <a:off x="4278960" y="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algn="r">
              <a:buNone/>
              <a:defRPr b="0" lang="pt-BR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buNone/>
            </a:pPr>
            <a:r>
              <a:rPr b="0" lang="pt-BR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 </a:t>
            </a:r>
            <a:endParaRPr b="0" lang="pt-BR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>
          <a:xfrm>
            <a:off x="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indent="0">
              <a:buNone/>
              <a:defRPr b="0" lang="pt-BR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>
              <a:buNone/>
            </a:pPr>
            <a:r>
              <a:rPr b="0" lang="pt-BR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 </a:t>
            </a:r>
            <a:endParaRPr b="0" lang="pt-BR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>
          <a:xfrm>
            <a:off x="427896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indent="0" algn="r">
              <a:buNone/>
              <a:defRPr b="0" lang="pt-BR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buNone/>
            </a:pPr>
            <a:fld id="{30058836-FACC-4F7A-9FD6-E06A3801195E}" type="slidenum">
              <a:rPr b="0" lang="pt-BR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1</a:t>
            </a:fld>
            <a:endParaRPr b="0" lang="pt-BR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</p:notesMaster>
</file>

<file path=ppt/notesSlides/_rels/notesSlide1.xml.rels><?xml version="1.0" encoding="UTF-8"?>
<Relationships xmlns="http://schemas.openxmlformats.org/package/2006/relationships"><Relationship Id="rId1" Type="http://schemas.openxmlformats.org/officeDocument/2006/relationships/slide" Target="../slides/slide1.xml"/><Relationship Id="rId2" Type="http://schemas.openxmlformats.org/officeDocument/2006/relationships/notesMaster" Target="../notesMasters/notesMaster1.xml"/>
</Relationships>
</file>

<file path=ppt/notesSlides/_rels/notesSlide2.xml.rels><?xml version="1.0" encoding="UTF-8"?>
<Relationships xmlns="http://schemas.openxmlformats.org/package/2006/relationships"><Relationship Id="rId1" Type="http://schemas.openxmlformats.org/officeDocument/2006/relationships/slide" Target="../slides/slide2.xml"/><Relationship Id="rId2" Type="http://schemas.openxmlformats.org/officeDocument/2006/relationships/notesMaster" Target="../notesMasters/notesMaster1.xml"/>
</Relationships>
</file>

<file path=ppt/notesSlides/_rels/notesSlide3.xml.rels><?xml version="1.0" encoding="UTF-8"?>
<Relationships xmlns="http://schemas.openxmlformats.org/package/2006/relationships"><Relationship Id="rId1" Type="http://schemas.openxmlformats.org/officeDocument/2006/relationships/slide" Target="../slides/slide3.xml"/><Relationship Id="rId2" Type="http://schemas.openxmlformats.org/officeDocument/2006/relationships/notesMaster" Target="../notesMasters/notesMaster1.xml"/>
</Relationships>
</file>

<file path=ppt/notesSlides/_rels/notesSlide4.xml.rels><?xml version="1.0" encoding="UTF-8"?>
<Relationships xmlns="http://schemas.openxmlformats.org/package/2006/relationships"><Relationship Id="rId1" Type="http://schemas.openxmlformats.org/officeDocument/2006/relationships/slide" Target="../slides/slide4.xml"/><Relationship Id="rId2" Type="http://schemas.openxmlformats.org/officeDocument/2006/relationships/notesMaster" Target="../notesMasters/notesMaster1.xml"/>
</Relationships>
</file>

<file path=ppt/notesSlides/_rels/notesSlide5.xml.rels><?xml version="1.0" encoding="UTF-8"?>
<Relationships xmlns="http://schemas.openxmlformats.org/package/2006/relationships"><Relationship Id="rId1" Type="http://schemas.openxmlformats.org/officeDocument/2006/relationships/slide" Target="../slides/slide5.xml"/><Relationship Id="rId2" Type="http://schemas.openxmlformats.org/officeDocument/2006/relationships/notesMaster" Target="../notesMasters/notesMaster1.xml"/>
</Relationships>
</file>

<file path=ppt/notesSlides/_rels/notesSlide6.xml.rels><?xml version="1.0" encoding="UTF-8"?>
<Relationships xmlns="http://schemas.openxmlformats.org/package/2006/relationships"><Relationship Id="rId1" Type="http://schemas.openxmlformats.org/officeDocument/2006/relationships/slide" Target="../slides/slide6.xml"/><Relationship Id="rId2" Type="http://schemas.openxmlformats.org/officeDocument/2006/relationships/notesMaster" Target="../notesMasters/notesMaster1.xml"/>
</Relationships>
</file>

<file path=ppt/notesSlides/_rels/notesSlide7.xml.rels><?xml version="1.0" encoding="UTF-8"?>
<Relationships xmlns="http://schemas.openxmlformats.org/package/2006/relationships"><Relationship Id="rId1" Type="http://schemas.openxmlformats.org/officeDocument/2006/relationships/slide" Target="../slides/slide7.xml"/><Relationship Id="rId2" Type="http://schemas.openxmlformats.org/officeDocument/2006/relationships/notesMaster" Target="../notesMasters/notesMaster1.xml"/>
</Relationships>
</file>

<file path=ppt/notesSlides/_rels/notesSlide8.xml.rels><?xml version="1.0" encoding="UTF-8"?>
<Relationships xmlns="http://schemas.openxmlformats.org/package/2006/relationships"><Relationship Id="rId1" Type="http://schemas.openxmlformats.org/officeDocument/2006/relationships/slide" Target="../slides/slide8.xml"/><Relationship Id="rId2" Type="http://schemas.openxmlformats.org/officeDocument/2006/relationships/notesMaster" Target="../notesMasters/notesMaster1.xml"/>
</Relationships>
</file>

<file path=ppt/notesSlides/_rels/notesSlide9.xml.rels><?xml version="1.0" encoding="UTF-8"?>
<Relationships xmlns="http://schemas.openxmlformats.org/package/2006/relationships"><Relationship Id="rId1" Type="http://schemas.openxmlformats.org/officeDocument/2006/relationships/slide" Target="../slides/slide9.xml"/><Relationship Id="rId2" Type="http://schemas.openxmlformats.org/officeDocument/2006/relationships/notesMaster" Target="../notesMasters/notesMaster1.xml"/>
</Relationships>
</file>

<file path=ppt/notesSlides/_rels/notesSlide10.xml.rels><?xml version="1.0" encoding="UTF-8"?>
<Relationships xmlns="http://schemas.openxmlformats.org/package/2006/relationships"><Relationship Id="rId1" Type="http://schemas.openxmlformats.org/officeDocument/2006/relationships/slide" Target="../slides/slide10.xml"/><Relationship Id="rId2" Type="http://schemas.openxmlformats.org/officeDocument/2006/relationships/notesMaster" Target="../notesMasters/notesMaster1.xml"/>
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2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5680" cy="3085560"/>
          </a:xfrm>
          <a:prstGeom prst="rect">
            <a:avLst/>
          </a:prstGeom>
          <a:ln w="0">
            <a:noFill/>
          </a:ln>
        </p:spPr>
      </p:sp>
      <p:sp>
        <p:nvSpPr>
          <p:cNvPr id="193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680" cy="3599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>
              <a:buNone/>
            </a:pPr>
            <a:endParaRPr b="0" lang="pt-BR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4" name="PlaceHolder 3"/>
          <p:cNvSpPr>
            <a:spLocks noGrp="1"/>
          </p:cNvSpPr>
          <p:nvPr>
            <p:ph type="sldNum" idx="4"/>
          </p:nvPr>
        </p:nvSpPr>
        <p:spPr>
          <a:xfrm>
            <a:off x="3884760" y="8685360"/>
            <a:ext cx="2971080" cy="4579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en-US" sz="1200" strike="noStrike" u="non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7FF74325-01C5-428C-AE1E-AE356F82E7C4}" type="slidenum">
              <a:rPr b="0" lang="en-US" sz="1200" strike="noStrike" u="non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&lt;número&gt;</a:t>
            </a:fld>
            <a:endParaRPr b="0" lang="pt-BR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5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5680" cy="3085560"/>
          </a:xfrm>
          <a:prstGeom prst="rect">
            <a:avLst/>
          </a:prstGeom>
          <a:ln w="0">
            <a:noFill/>
          </a:ln>
        </p:spPr>
      </p:sp>
      <p:sp>
        <p:nvSpPr>
          <p:cNvPr id="196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680" cy="3599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>
              <a:buNone/>
            </a:pPr>
            <a:endParaRPr b="0" lang="pt-BR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7" name="PlaceHolder 3"/>
          <p:cNvSpPr>
            <a:spLocks noGrp="1"/>
          </p:cNvSpPr>
          <p:nvPr>
            <p:ph type="sldNum" idx="5"/>
          </p:nvPr>
        </p:nvSpPr>
        <p:spPr>
          <a:xfrm>
            <a:off x="3884760" y="8685360"/>
            <a:ext cx="2971080" cy="4579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en-US" sz="1200" strike="noStrike" u="non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30AA3A49-FE2A-4569-B35D-64F69E9E5B66}" type="slidenum">
              <a:rPr b="0" lang="en-US" sz="1200" strike="noStrike" u="non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&lt;número&gt;</a:t>
            </a:fld>
            <a:endParaRPr b="0" lang="pt-BR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5680" cy="3085560"/>
          </a:xfrm>
          <a:prstGeom prst="rect">
            <a:avLst/>
          </a:prstGeom>
          <a:ln w="0">
            <a:noFill/>
          </a:ln>
        </p:spPr>
      </p:sp>
      <p:sp>
        <p:nvSpPr>
          <p:cNvPr id="199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680" cy="3599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>
              <a:buNone/>
            </a:pPr>
            <a:endParaRPr b="0" lang="pt-BR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0" name="PlaceHolder 3"/>
          <p:cNvSpPr>
            <a:spLocks noGrp="1"/>
          </p:cNvSpPr>
          <p:nvPr>
            <p:ph type="sldNum" idx="6"/>
          </p:nvPr>
        </p:nvSpPr>
        <p:spPr>
          <a:xfrm>
            <a:off x="3884760" y="8685360"/>
            <a:ext cx="2971080" cy="4579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en-US" sz="1200" strike="noStrike" u="non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1C7A4144-86D5-4FEA-B61F-BC484B8E6886}" type="slidenum">
              <a:rPr b="0" lang="en-US" sz="1200" strike="noStrike" u="non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&lt;número&gt;</a:t>
            </a:fld>
            <a:endParaRPr b="0" lang="pt-BR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5680" cy="3085560"/>
          </a:xfrm>
          <a:prstGeom prst="rect">
            <a:avLst/>
          </a:prstGeom>
          <a:ln w="0">
            <a:noFill/>
          </a:ln>
        </p:spPr>
      </p:sp>
      <p:sp>
        <p:nvSpPr>
          <p:cNvPr id="202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680" cy="3599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>
              <a:buNone/>
            </a:pPr>
            <a:endParaRPr b="0" lang="pt-BR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3" name="PlaceHolder 3"/>
          <p:cNvSpPr>
            <a:spLocks noGrp="1"/>
          </p:cNvSpPr>
          <p:nvPr>
            <p:ph type="sldNum" idx="7"/>
          </p:nvPr>
        </p:nvSpPr>
        <p:spPr>
          <a:xfrm>
            <a:off x="3884760" y="8685360"/>
            <a:ext cx="2971080" cy="4579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en-US" sz="1200" strike="noStrike" u="non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77EE1C5A-D2CF-4411-BCC0-5E4BC4555DC7}" type="slidenum">
              <a:rPr b="0" lang="en-US" sz="1200" strike="noStrike" u="non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&lt;número&gt;</a:t>
            </a:fld>
            <a:endParaRPr b="0" lang="pt-BR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5680" cy="3085560"/>
          </a:xfrm>
          <a:prstGeom prst="rect">
            <a:avLst/>
          </a:prstGeom>
          <a:ln w="0">
            <a:noFill/>
          </a:ln>
        </p:spPr>
      </p:sp>
      <p:sp>
        <p:nvSpPr>
          <p:cNvPr id="205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680" cy="3599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>
              <a:buNone/>
            </a:pPr>
            <a:endParaRPr b="0" lang="pt-BR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6" name="PlaceHolder 3"/>
          <p:cNvSpPr>
            <a:spLocks noGrp="1"/>
          </p:cNvSpPr>
          <p:nvPr>
            <p:ph type="sldNum" idx="8"/>
          </p:nvPr>
        </p:nvSpPr>
        <p:spPr>
          <a:xfrm>
            <a:off x="3884760" y="8685360"/>
            <a:ext cx="2971080" cy="4579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en-US" sz="1200" strike="noStrike" u="non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C8FD6CE5-4327-4BDB-89A0-75C4D9996334}" type="slidenum">
              <a:rPr b="0" lang="en-US" sz="1200" strike="noStrike" u="non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&lt;número&gt;</a:t>
            </a:fld>
            <a:endParaRPr b="0" lang="pt-BR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7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5680" cy="3085560"/>
          </a:xfrm>
          <a:prstGeom prst="rect">
            <a:avLst/>
          </a:prstGeom>
          <a:ln w="0">
            <a:noFill/>
          </a:ln>
        </p:spPr>
      </p:sp>
      <p:sp>
        <p:nvSpPr>
          <p:cNvPr id="208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680" cy="3599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>
              <a:buNone/>
            </a:pPr>
            <a:endParaRPr b="0" lang="pt-BR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9" name="PlaceHolder 3"/>
          <p:cNvSpPr>
            <a:spLocks noGrp="1"/>
          </p:cNvSpPr>
          <p:nvPr>
            <p:ph type="sldNum" idx="9"/>
          </p:nvPr>
        </p:nvSpPr>
        <p:spPr>
          <a:xfrm>
            <a:off x="3884760" y="8685360"/>
            <a:ext cx="2971080" cy="4579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en-US" sz="1200" strike="noStrike" u="non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A4FBE8DF-5423-4A9F-AA57-DAFB91FC900B}" type="slidenum">
              <a:rPr b="0" lang="en-US" sz="1200" strike="noStrike" u="non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&lt;número&gt;</a:t>
            </a:fld>
            <a:endParaRPr b="0" lang="pt-BR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0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5680" cy="3085560"/>
          </a:xfrm>
          <a:prstGeom prst="rect">
            <a:avLst/>
          </a:prstGeom>
          <a:ln w="0">
            <a:noFill/>
          </a:ln>
        </p:spPr>
      </p:sp>
      <p:sp>
        <p:nvSpPr>
          <p:cNvPr id="211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680" cy="3599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>
              <a:buNone/>
            </a:pPr>
            <a:endParaRPr b="0" lang="pt-BR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2" name="PlaceHolder 3"/>
          <p:cNvSpPr>
            <a:spLocks noGrp="1"/>
          </p:cNvSpPr>
          <p:nvPr>
            <p:ph type="sldNum" idx="10"/>
          </p:nvPr>
        </p:nvSpPr>
        <p:spPr>
          <a:xfrm>
            <a:off x="3884760" y="8685360"/>
            <a:ext cx="2971080" cy="4579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en-US" sz="1200" strike="noStrike" u="non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06D8E863-E204-4B30-AA32-D0907649E821}" type="slidenum">
              <a:rPr b="0" lang="en-US" sz="1200" strike="noStrike" u="non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&lt;número&gt;</a:t>
            </a:fld>
            <a:endParaRPr b="0" lang="pt-BR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3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5680" cy="3085560"/>
          </a:xfrm>
          <a:prstGeom prst="rect">
            <a:avLst/>
          </a:prstGeom>
          <a:ln w="0">
            <a:noFill/>
          </a:ln>
        </p:spPr>
      </p:sp>
      <p:sp>
        <p:nvSpPr>
          <p:cNvPr id="214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680" cy="3599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>
              <a:buNone/>
            </a:pPr>
            <a:endParaRPr b="0" lang="pt-BR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5" name="PlaceHolder 3"/>
          <p:cNvSpPr>
            <a:spLocks noGrp="1"/>
          </p:cNvSpPr>
          <p:nvPr>
            <p:ph type="sldNum" idx="11"/>
          </p:nvPr>
        </p:nvSpPr>
        <p:spPr>
          <a:xfrm>
            <a:off x="3884760" y="8685360"/>
            <a:ext cx="2971080" cy="4579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en-US" sz="1200" strike="noStrike" u="non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58E8CDA7-8A17-4388-81E4-D1AA33CA520A}" type="slidenum">
              <a:rPr b="0" lang="en-US" sz="1200" strike="noStrike" u="non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&lt;número&gt;</a:t>
            </a:fld>
            <a:endParaRPr b="0" lang="pt-BR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6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5680" cy="3085560"/>
          </a:xfrm>
          <a:prstGeom prst="rect">
            <a:avLst/>
          </a:prstGeom>
          <a:ln w="0">
            <a:noFill/>
          </a:ln>
        </p:spPr>
      </p:sp>
      <p:sp>
        <p:nvSpPr>
          <p:cNvPr id="217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680" cy="3599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>
              <a:buNone/>
            </a:pPr>
            <a:endParaRPr b="0" lang="pt-BR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8" name="PlaceHolder 3"/>
          <p:cNvSpPr>
            <a:spLocks noGrp="1"/>
          </p:cNvSpPr>
          <p:nvPr>
            <p:ph type="sldNum" idx="12"/>
          </p:nvPr>
        </p:nvSpPr>
        <p:spPr>
          <a:xfrm>
            <a:off x="3884760" y="8685360"/>
            <a:ext cx="2971080" cy="4579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en-US" sz="1200" strike="noStrike" u="non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5E86660C-12EF-4152-9479-FF5469CF84AF}" type="slidenum">
              <a:rPr b="0" lang="en-US" sz="1200" strike="noStrike" u="non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&lt;número&gt;</a:t>
            </a:fld>
            <a:endParaRPr b="0" lang="pt-BR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9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5680" cy="3085560"/>
          </a:xfrm>
          <a:prstGeom prst="rect">
            <a:avLst/>
          </a:prstGeom>
          <a:ln w="0">
            <a:noFill/>
          </a:ln>
        </p:spPr>
      </p:sp>
      <p:sp>
        <p:nvSpPr>
          <p:cNvPr id="220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680" cy="3599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>
              <a:buNone/>
            </a:pPr>
            <a:endParaRPr b="0" lang="pt-BR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1" name="PlaceHolder 3"/>
          <p:cNvSpPr>
            <a:spLocks noGrp="1"/>
          </p:cNvSpPr>
          <p:nvPr>
            <p:ph type="sldNum" idx="13"/>
          </p:nvPr>
        </p:nvSpPr>
        <p:spPr>
          <a:xfrm>
            <a:off x="3884760" y="8685360"/>
            <a:ext cx="2971080" cy="4579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en-US" sz="1200" strike="noStrike" u="non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11448AB6-728F-4E64-A448-B8A6E72D9355}" type="slidenum">
              <a:rPr b="0" lang="en-US" sz="1200" strike="noStrike" u="non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&lt;número&gt;</a:t>
            </a:fld>
            <a:endParaRPr b="0" lang="pt-BR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DEFAU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r>
              <a:rPr b="0" lang="pt-BR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Clique para editar o formato do texto do título</a:t>
            </a:r>
            <a:endParaRPr b="0" lang="pt-BR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" name="PlaceHolder 2"/>
          <p:cNvSpPr>
            <a:spLocks noGrp="1"/>
          </p:cNvSpPr>
          <p:nvPr>
            <p:ph type="body"/>
          </p:nvPr>
        </p:nvSpPr>
        <p:spPr>
          <a:xfrm>
            <a:off x="457200" y="1203480"/>
            <a:ext cx="8229240" cy="2982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lnSpcReduction="9999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Clique para editar o formato de texto dos tópicos</a:t>
            </a: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pt-BR" sz="2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2.º nível de tópicos</a:t>
            </a:r>
            <a:endParaRPr b="0" lang="pt-BR" sz="2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2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3.º nível de tópicos</a:t>
            </a:r>
            <a:endParaRPr b="0" lang="pt-BR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pt-BR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4.º nível de tópicos</a:t>
            </a:r>
            <a:endParaRPr b="0" lang="pt-BR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5.º nível de tópicos</a:t>
            </a:r>
            <a:endParaRPr b="0" lang="pt-BR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6.º nível de tópicos</a:t>
            </a:r>
            <a:endParaRPr b="0" lang="pt-BR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7.º nível de tópicos</a:t>
            </a:r>
            <a:endParaRPr b="0" lang="pt-BR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
</Relationships>
</file>

<file path=ppt/slides/_rels/slide8.xml.rels><?xml version="1.0" encoding="UTF-8"?>
<Relationships xmlns="http://schemas.openxmlformats.org/package/2006/relationships"><Relationship Id="rId1" Type="http://schemas.openxmlformats.org/officeDocument/2006/relationships/image" Target="../media/image3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
</Relationships>
</file>

<file path=ppt/slides/_rels/slide9.xml.rels><?xml version="1.0" encoding="UTF-8"?>
<Relationships xmlns="http://schemas.openxmlformats.org/package/2006/relationships"><Relationship Id="rId1" Type="http://schemas.openxmlformats.org/officeDocument/2006/relationships/image" Target="../media/image4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
</Relationships>
</file>

<file path=ppt/slides/_rels/slide1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Image 0" descr="preencoded.png"/>
          <p:cNvPicPr/>
          <p:nvPr/>
        </p:nvPicPr>
        <p:blipFill>
          <a:blip r:embed="rId1"/>
          <a:stretch/>
        </p:blipFill>
        <p:spPr>
          <a:xfrm>
            <a:off x="6583680" y="457200"/>
            <a:ext cx="2193840" cy="21938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9" name="Shape 0"/>
          <p:cNvSpPr/>
          <p:nvPr/>
        </p:nvSpPr>
        <p:spPr>
          <a:xfrm>
            <a:off x="0" y="0"/>
            <a:ext cx="72360" cy="5142960"/>
          </a:xfrm>
          <a:prstGeom prst="rect">
            <a:avLst/>
          </a:prstGeom>
          <a:solidFill>
            <a:srgbClr val="cc6699"/>
          </a:solidFill>
          <a:ln w="12700">
            <a:solidFill>
              <a:srgbClr val="cc6699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pt-BR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0" name="Text 1"/>
          <p:cNvSpPr/>
          <p:nvPr/>
        </p:nvSpPr>
        <p:spPr>
          <a:xfrm>
            <a:off x="274320" y="365760"/>
            <a:ext cx="6400080" cy="410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100" spc="499" strike="noStrike" u="none">
                <a:solidFill>
                  <a:srgbClr val="cc6699"/>
                </a:solidFill>
                <a:effectLst/>
                <a:uFillTx/>
                <a:latin typeface="Trebuchet MS"/>
                <a:ea typeface="Trebuchet MS"/>
              </a:rPr>
              <a:t>REVISÃO</a:t>
            </a:r>
            <a:endParaRPr b="0" lang="pt-BR" sz="11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1" name="Text 2"/>
          <p:cNvSpPr/>
          <p:nvPr/>
        </p:nvSpPr>
        <p:spPr>
          <a:xfrm>
            <a:off x="274320" y="822960"/>
            <a:ext cx="6400080" cy="639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3600" strike="noStrike" u="none">
                <a:solidFill>
                  <a:srgbClr val="f4a742"/>
                </a:solidFill>
                <a:effectLst/>
                <a:uFillTx/>
                <a:latin typeface="Trebuchet MS"/>
                <a:ea typeface="Trebuchet MS"/>
              </a:rPr>
              <a:t>Aula 3</a:t>
            </a:r>
            <a:endParaRPr b="0" lang="pt-BR" sz="36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2" name="Text 3"/>
          <p:cNvSpPr/>
          <p:nvPr/>
        </p:nvSpPr>
        <p:spPr>
          <a:xfrm>
            <a:off x="274320" y="1508760"/>
            <a:ext cx="6400080" cy="1370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4200" strike="noStrike" u="none">
                <a:solidFill>
                  <a:srgbClr val="ffffff"/>
                </a:solidFill>
                <a:effectLst/>
                <a:uFillTx/>
                <a:latin typeface="Trebuchet MS"/>
                <a:ea typeface="Trebuchet MS"/>
              </a:rPr>
              <a:t>Sass/LESS e</a:t>
            </a:r>
            <a:endParaRPr b="0" lang="pt-BR" sz="42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4200" strike="noStrike" u="none">
                <a:solidFill>
                  <a:srgbClr val="ffffff"/>
                </a:solidFill>
                <a:effectLst/>
                <a:uFillTx/>
                <a:latin typeface="Trebuchet MS"/>
                <a:ea typeface="Trebuchet MS"/>
              </a:rPr>
              <a:t>CSS Avançado</a:t>
            </a:r>
            <a:endParaRPr b="0" lang="pt-BR" sz="42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3" name="Text 4"/>
          <p:cNvSpPr/>
          <p:nvPr/>
        </p:nvSpPr>
        <p:spPr>
          <a:xfrm>
            <a:off x="274320" y="3063240"/>
            <a:ext cx="6217200" cy="410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300" strike="noStrike" u="none">
                <a:solidFill>
                  <a:srgbClr val="e8eef7"/>
                </a:solidFill>
                <a:effectLst/>
                <a:uFillTx/>
                <a:latin typeface="Calibri"/>
                <a:ea typeface="Calibri"/>
              </a:rPr>
              <a:t>Pré-processadores · Variáveis · Nesting · Mixins · Custom Properties · Temas</a:t>
            </a:r>
            <a:endParaRPr b="0" lang="pt-BR" sz="13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4" name="Shape 9"/>
          <p:cNvSpPr/>
          <p:nvPr/>
        </p:nvSpPr>
        <p:spPr>
          <a:xfrm>
            <a:off x="331560" y="3600000"/>
            <a:ext cx="1828080" cy="346680"/>
          </a:xfrm>
          <a:prstGeom prst="rect">
            <a:avLst/>
          </a:prstGeom>
          <a:solidFill>
            <a:srgbClr val="162444"/>
          </a:solidFill>
          <a:ln w="12700">
            <a:solidFill>
              <a:srgbClr val="2a4a7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pt-BR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5" name="Text 10"/>
          <p:cNvSpPr/>
          <p:nvPr/>
        </p:nvSpPr>
        <p:spPr>
          <a:xfrm>
            <a:off x="331560" y="3612960"/>
            <a:ext cx="1828080" cy="346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100" strike="noStrike" u="none">
                <a:solidFill>
                  <a:srgbClr val="e8eef7"/>
                </a:solidFill>
                <a:effectLst/>
                <a:uFillTx/>
                <a:latin typeface="Calibri"/>
                <a:ea typeface="Calibri"/>
              </a:rPr>
              <a:t>Variáveis</a:t>
            </a:r>
            <a:endParaRPr b="0" lang="pt-BR" sz="11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6" name="Shape 11"/>
          <p:cNvSpPr/>
          <p:nvPr/>
        </p:nvSpPr>
        <p:spPr>
          <a:xfrm>
            <a:off x="2311560" y="3612960"/>
            <a:ext cx="1828080" cy="346680"/>
          </a:xfrm>
          <a:prstGeom prst="rect">
            <a:avLst/>
          </a:prstGeom>
          <a:solidFill>
            <a:srgbClr val="162444"/>
          </a:solidFill>
          <a:ln w="12700">
            <a:solidFill>
              <a:srgbClr val="2a4a7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pt-BR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7" name="Text 12"/>
          <p:cNvSpPr/>
          <p:nvPr/>
        </p:nvSpPr>
        <p:spPr>
          <a:xfrm>
            <a:off x="2311560" y="3612960"/>
            <a:ext cx="1828080" cy="346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100" strike="noStrike" u="none">
                <a:solidFill>
                  <a:srgbClr val="e8eef7"/>
                </a:solidFill>
                <a:effectLst/>
                <a:uFillTx/>
                <a:latin typeface="Calibri"/>
                <a:ea typeface="Calibri"/>
              </a:rPr>
              <a:t>Nesting</a:t>
            </a:r>
            <a:endParaRPr b="0" lang="pt-BR" sz="11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8" name="Shape 13"/>
          <p:cNvSpPr/>
          <p:nvPr/>
        </p:nvSpPr>
        <p:spPr>
          <a:xfrm>
            <a:off x="4259880" y="3612960"/>
            <a:ext cx="1828080" cy="346680"/>
          </a:xfrm>
          <a:prstGeom prst="rect">
            <a:avLst/>
          </a:prstGeom>
          <a:solidFill>
            <a:srgbClr val="162444"/>
          </a:solidFill>
          <a:ln w="12700">
            <a:solidFill>
              <a:srgbClr val="2a4a7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pt-BR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9" name="Text 14"/>
          <p:cNvSpPr/>
          <p:nvPr/>
        </p:nvSpPr>
        <p:spPr>
          <a:xfrm>
            <a:off x="4259880" y="3612960"/>
            <a:ext cx="1828080" cy="346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100" strike="noStrike" u="none">
                <a:solidFill>
                  <a:srgbClr val="e8eef7"/>
                </a:solidFill>
                <a:effectLst/>
                <a:uFillTx/>
                <a:latin typeface="Calibri"/>
                <a:ea typeface="Calibri"/>
              </a:rPr>
              <a:t>Mixins</a:t>
            </a:r>
            <a:endParaRPr b="0" lang="pt-BR" sz="11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0" name="Shape 15"/>
          <p:cNvSpPr/>
          <p:nvPr/>
        </p:nvSpPr>
        <p:spPr>
          <a:xfrm>
            <a:off x="6271560" y="3612960"/>
            <a:ext cx="1828080" cy="346680"/>
          </a:xfrm>
          <a:prstGeom prst="rect">
            <a:avLst/>
          </a:prstGeom>
          <a:solidFill>
            <a:srgbClr val="162444"/>
          </a:solidFill>
          <a:ln w="12700">
            <a:solidFill>
              <a:srgbClr val="2a4a7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pt-BR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1" name="Text 16"/>
          <p:cNvSpPr/>
          <p:nvPr/>
        </p:nvSpPr>
        <p:spPr>
          <a:xfrm>
            <a:off x="6271560" y="3612960"/>
            <a:ext cx="1828080" cy="346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100" strike="noStrike" u="none">
                <a:solidFill>
                  <a:srgbClr val="e8eef7"/>
                </a:solidFill>
                <a:effectLst/>
                <a:uFillTx/>
                <a:latin typeface="Calibri"/>
                <a:ea typeface="Calibri"/>
              </a:rPr>
              <a:t>Custom Props</a:t>
            </a:r>
            <a:endParaRPr b="0" lang="pt-BR" sz="11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2" name="Text 17"/>
          <p:cNvSpPr/>
          <p:nvPr/>
        </p:nvSpPr>
        <p:spPr>
          <a:xfrm>
            <a:off x="274320" y="4754880"/>
            <a:ext cx="8686080" cy="255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50" strike="noStrike" u="none">
                <a:solidFill>
                  <a:srgbClr val="7b9fc4"/>
                </a:solidFill>
                <a:effectLst/>
                <a:uFillTx/>
                <a:latin typeface="Calibri"/>
                <a:ea typeface="Calibri"/>
              </a:rPr>
              <a:t>Disciplina de Desenvolvimento Frontend  ·  3h</a:t>
            </a:r>
            <a:endParaRPr b="0" lang="pt-BR" sz="95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Shape 0"/>
          <p:cNvSpPr/>
          <p:nvPr/>
        </p:nvSpPr>
        <p:spPr>
          <a:xfrm>
            <a:off x="0" y="0"/>
            <a:ext cx="54000" cy="5142960"/>
          </a:xfrm>
          <a:prstGeom prst="rect">
            <a:avLst/>
          </a:prstGeom>
          <a:solidFill>
            <a:srgbClr val="cc6699"/>
          </a:solidFill>
          <a:ln w="12700">
            <a:solidFill>
              <a:srgbClr val="cc6699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pt-BR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4" name="Shape 1"/>
          <p:cNvSpPr/>
          <p:nvPr/>
        </p:nvSpPr>
        <p:spPr>
          <a:xfrm>
            <a:off x="320040" y="182880"/>
            <a:ext cx="1402920" cy="255240"/>
          </a:xfrm>
          <a:prstGeom prst="rect">
            <a:avLst/>
          </a:prstGeom>
          <a:solidFill>
            <a:srgbClr val="cc6699"/>
          </a:solidFill>
          <a:ln w="12700">
            <a:solidFill>
              <a:srgbClr val="cc6699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pt-BR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5" name="Text 2"/>
          <p:cNvSpPr/>
          <p:nvPr/>
        </p:nvSpPr>
        <p:spPr>
          <a:xfrm>
            <a:off x="320040" y="191880"/>
            <a:ext cx="1402920" cy="255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900" strike="noStrike" u="non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POR QUE SASS?</a:t>
            </a:r>
            <a:endParaRPr b="0" lang="pt-BR" sz="9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26" name="Image 0" descr="preencoded.png"/>
          <p:cNvPicPr/>
          <p:nvPr/>
        </p:nvPicPr>
        <p:blipFill>
          <a:blip r:embed="rId1"/>
          <a:stretch/>
        </p:blipFill>
        <p:spPr>
          <a:xfrm>
            <a:off x="7772400" y="274320"/>
            <a:ext cx="1096560" cy="10965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7" name="Text 3"/>
          <p:cNvSpPr/>
          <p:nvPr/>
        </p:nvSpPr>
        <p:spPr>
          <a:xfrm>
            <a:off x="320040" y="457200"/>
            <a:ext cx="6857280" cy="547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600" strike="noStrike" u="none">
                <a:solidFill>
                  <a:srgbClr val="ffffff"/>
                </a:solidFill>
                <a:effectLst/>
                <a:uFillTx/>
                <a:latin typeface="Trebuchet MS"/>
                <a:ea typeface="Trebuchet MS"/>
              </a:rPr>
              <a:t>O CSS puro tem limites</a:t>
            </a:r>
            <a:endParaRPr b="0" lang="pt-BR" sz="26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8" name="Shape 4"/>
          <p:cNvSpPr/>
          <p:nvPr/>
        </p:nvSpPr>
        <p:spPr>
          <a:xfrm>
            <a:off x="228600" y="1143000"/>
            <a:ext cx="4114080" cy="3519720"/>
          </a:xfrm>
          <a:prstGeom prst="rect">
            <a:avLst/>
          </a:prstGeom>
          <a:solidFill>
            <a:srgbClr val="162444"/>
          </a:solidFill>
          <a:ln w="12700">
            <a:solidFill>
              <a:srgbClr val="2a4a7f"/>
            </a:solidFill>
            <a:round/>
          </a:ln>
          <a:effectLst>
            <a:outerShdw algn="bl" blurRad="101520" dir="8100000" dist="25455" kx="0" ky="0" rotWithShape="0" sx="100000" sy="100000">
              <a:srgbClr val="000000">
                <a:alpha val="20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pt-BR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9" name="Text 5"/>
          <p:cNvSpPr/>
          <p:nvPr/>
        </p:nvSpPr>
        <p:spPr>
          <a:xfrm>
            <a:off x="365760" y="1234440"/>
            <a:ext cx="3839760" cy="346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300" strike="noStrike" u="none">
                <a:solidFill>
                  <a:srgbClr val="e74c3c"/>
                </a:solidFill>
                <a:effectLst/>
                <a:uFillTx/>
                <a:latin typeface="Trebuchet MS"/>
                <a:ea typeface="Trebuchet MS"/>
              </a:rPr>
              <a:t>style.css  —  ANTES</a:t>
            </a:r>
            <a:endParaRPr b="0" lang="pt-BR" sz="13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0" name="Shape 6"/>
          <p:cNvSpPr/>
          <p:nvPr/>
        </p:nvSpPr>
        <p:spPr>
          <a:xfrm>
            <a:off x="320040" y="1627560"/>
            <a:ext cx="3976920" cy="2879640"/>
          </a:xfrm>
          <a:prstGeom prst="rect">
            <a:avLst/>
          </a:prstGeom>
          <a:solidFill>
            <a:srgbClr val="0d1320"/>
          </a:solidFill>
          <a:ln w="12700">
            <a:solidFill>
              <a:srgbClr val="1e3a5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pt-BR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1" name="Text 7"/>
          <p:cNvSpPr/>
          <p:nvPr/>
        </p:nvSpPr>
        <p:spPr>
          <a:xfrm>
            <a:off x="457200" y="1764720"/>
            <a:ext cx="3702600" cy="2605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50" strike="noStrike" u="none">
                <a:solidFill>
                  <a:srgbClr val="78b9ff"/>
                </a:solidFill>
                <a:effectLst/>
                <a:uFillTx/>
                <a:latin typeface="Courier New"/>
                <a:ea typeface="Courier New"/>
              </a:rPr>
              <a:t>#slider .carousel-item img {</a:t>
            </a:r>
            <a:endParaRPr b="0" lang="pt-BR" sz="105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50" strike="noStrike" u="none">
                <a:solidFill>
                  <a:srgbClr val="78b9ff"/>
                </a:solidFill>
                <a:effectLst/>
                <a:uFillTx/>
                <a:latin typeface="Courier New"/>
                <a:ea typeface="Courier New"/>
              </a:rPr>
              <a:t>  height: 500px;      /* ??? */</a:t>
            </a:r>
            <a:endParaRPr b="0" lang="pt-BR" sz="105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50" strike="noStrike" u="none">
                <a:solidFill>
                  <a:srgbClr val="78b9ff"/>
                </a:solidFill>
                <a:effectLst/>
                <a:uFillTx/>
                <a:latin typeface="Courier New"/>
                <a:ea typeface="Courier New"/>
              </a:rPr>
              <a:t>  object-fit: cover;</a:t>
            </a:r>
            <a:endParaRPr b="0" lang="pt-BR" sz="105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50" strike="noStrike" u="none">
                <a:solidFill>
                  <a:srgbClr val="78b9ff"/>
                </a:solidFill>
                <a:effectLst/>
                <a:uFillTx/>
                <a:latin typeface="Courier New"/>
                <a:ea typeface="Courier New"/>
              </a:rPr>
              <a:t>}</a:t>
            </a:r>
            <a:endParaRPr b="0" lang="pt-BR" sz="105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endParaRPr b="0" lang="pt-BR" sz="105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50" strike="noStrike" u="none">
                <a:solidFill>
                  <a:srgbClr val="78b9ff"/>
                </a:solidFill>
                <a:effectLst/>
                <a:uFillTx/>
                <a:latin typeface="Courier New"/>
                <a:ea typeface="Courier New"/>
              </a:rPr>
              <a:t>.img-produto {</a:t>
            </a:r>
            <a:endParaRPr b="0" lang="pt-BR" sz="105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50" strike="noStrike" u="none">
                <a:solidFill>
                  <a:srgbClr val="78b9ff"/>
                </a:solidFill>
                <a:effectLst/>
                <a:uFillTx/>
                <a:latin typeface="Courier New"/>
                <a:ea typeface="Courier New"/>
              </a:rPr>
              <a:t>  height: 220px;      /* ??? */</a:t>
            </a:r>
            <a:endParaRPr b="0" lang="pt-BR" sz="105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50" strike="noStrike" u="none">
                <a:solidFill>
                  <a:srgbClr val="78b9ff"/>
                </a:solidFill>
                <a:effectLst/>
                <a:uFillTx/>
                <a:latin typeface="Courier New"/>
                <a:ea typeface="Courier New"/>
              </a:rPr>
              <a:t>  object-fit: cover;  /* rep. */</a:t>
            </a:r>
            <a:endParaRPr b="0" lang="pt-BR" sz="105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50" strike="noStrike" u="none">
                <a:solidFill>
                  <a:srgbClr val="78b9ff"/>
                </a:solidFill>
                <a:effectLst/>
                <a:uFillTx/>
                <a:latin typeface="Courier New"/>
                <a:ea typeface="Courier New"/>
              </a:rPr>
              <a:t>}</a:t>
            </a:r>
            <a:endParaRPr b="0" lang="pt-BR" sz="105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2" name="Shape 8"/>
          <p:cNvSpPr/>
          <p:nvPr/>
        </p:nvSpPr>
        <p:spPr>
          <a:xfrm>
            <a:off x="4617720" y="1143000"/>
            <a:ext cx="4296960" cy="3519720"/>
          </a:xfrm>
          <a:prstGeom prst="rect">
            <a:avLst/>
          </a:prstGeom>
          <a:solidFill>
            <a:srgbClr val="162444"/>
          </a:solidFill>
          <a:ln w="12700">
            <a:solidFill>
              <a:srgbClr val="2a4a7f"/>
            </a:solidFill>
            <a:round/>
          </a:ln>
          <a:effectLst>
            <a:outerShdw algn="bl" blurRad="101520" dir="8100000" dist="25455" kx="0" ky="0" rotWithShape="0" sx="100000" sy="100000">
              <a:srgbClr val="000000">
                <a:alpha val="20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pt-BR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3" name="Text 9"/>
          <p:cNvSpPr/>
          <p:nvPr/>
        </p:nvSpPr>
        <p:spPr>
          <a:xfrm>
            <a:off x="4754880" y="1234440"/>
            <a:ext cx="4022640" cy="346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300" strike="noStrike" u="none">
                <a:solidFill>
                  <a:srgbClr val="2ecc71"/>
                </a:solidFill>
                <a:effectLst/>
                <a:uFillTx/>
                <a:latin typeface="Trebuchet MS"/>
                <a:ea typeface="Trebuchet MS"/>
              </a:rPr>
              <a:t>style.scss  —  DEPOIS</a:t>
            </a:r>
            <a:endParaRPr b="0" lang="pt-BR" sz="13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4" name="Shape 10"/>
          <p:cNvSpPr/>
          <p:nvPr/>
        </p:nvSpPr>
        <p:spPr>
          <a:xfrm>
            <a:off x="4709160" y="1627560"/>
            <a:ext cx="4114080" cy="2879640"/>
          </a:xfrm>
          <a:prstGeom prst="rect">
            <a:avLst/>
          </a:prstGeom>
          <a:solidFill>
            <a:srgbClr val="0d1320"/>
          </a:solidFill>
          <a:ln w="12700">
            <a:solidFill>
              <a:srgbClr val="1e3a5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pt-BR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5" name="Text 11"/>
          <p:cNvSpPr/>
          <p:nvPr/>
        </p:nvSpPr>
        <p:spPr>
          <a:xfrm>
            <a:off x="4846320" y="1764720"/>
            <a:ext cx="3839760" cy="2605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50" strike="noStrike" u="none">
                <a:solidFill>
                  <a:srgbClr val="78b9ff"/>
                </a:solidFill>
                <a:effectLst/>
                <a:uFillTx/>
                <a:latin typeface="Courier New"/>
                <a:ea typeface="Courier New"/>
              </a:rPr>
              <a:t>$altura-carousel: 500px;</a:t>
            </a:r>
            <a:endParaRPr b="0" lang="pt-BR" sz="105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50" strike="noStrike" u="none">
                <a:solidFill>
                  <a:srgbClr val="78b9ff"/>
                </a:solidFill>
                <a:effectLst/>
                <a:uFillTx/>
                <a:latin typeface="Courier New"/>
                <a:ea typeface="Courier New"/>
              </a:rPr>
              <a:t>$altura-produto:  220px;</a:t>
            </a:r>
            <a:endParaRPr b="0" lang="pt-BR" sz="105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endParaRPr b="0" lang="pt-BR" sz="105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50" strike="noStrike" u="none">
                <a:solidFill>
                  <a:srgbClr val="78b9ff"/>
                </a:solidFill>
                <a:effectLst/>
                <a:uFillTx/>
                <a:latin typeface="Courier New"/>
                <a:ea typeface="Courier New"/>
              </a:rPr>
              <a:t>@mixin img-ajustada($h) {</a:t>
            </a:r>
            <a:endParaRPr b="0" lang="pt-BR" sz="105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50" strike="noStrike" u="none">
                <a:solidFill>
                  <a:srgbClr val="78b9ff"/>
                </a:solidFill>
                <a:effectLst/>
                <a:uFillTx/>
                <a:latin typeface="Courier New"/>
                <a:ea typeface="Courier New"/>
              </a:rPr>
              <a:t>  height: $h;</a:t>
            </a:r>
            <a:endParaRPr b="0" lang="pt-BR" sz="105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50" strike="noStrike" u="none">
                <a:solidFill>
                  <a:srgbClr val="78b9ff"/>
                </a:solidFill>
                <a:effectLst/>
                <a:uFillTx/>
                <a:latin typeface="Courier New"/>
                <a:ea typeface="Courier New"/>
              </a:rPr>
              <a:t>  object-fit: cover;</a:t>
            </a:r>
            <a:endParaRPr b="0" lang="pt-BR" sz="105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50" strike="noStrike" u="none">
                <a:solidFill>
                  <a:srgbClr val="78b9ff"/>
                </a:solidFill>
                <a:effectLst/>
                <a:uFillTx/>
                <a:latin typeface="Courier New"/>
                <a:ea typeface="Courier New"/>
              </a:rPr>
              <a:t>}</a:t>
            </a:r>
            <a:endParaRPr b="0" lang="pt-BR" sz="105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endParaRPr b="0" lang="pt-BR" sz="105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50" strike="noStrike" u="none">
                <a:solidFill>
                  <a:srgbClr val="78b9ff"/>
                </a:solidFill>
                <a:effectLst/>
                <a:uFillTx/>
                <a:latin typeface="Courier New"/>
                <a:ea typeface="Courier New"/>
              </a:rPr>
              <a:t>#slider img {</a:t>
            </a:r>
            <a:endParaRPr b="0" lang="pt-BR" sz="105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50" strike="noStrike" u="none">
                <a:solidFill>
                  <a:srgbClr val="78b9ff"/>
                </a:solidFill>
                <a:effectLst/>
                <a:uFillTx/>
                <a:latin typeface="Courier New"/>
                <a:ea typeface="Courier New"/>
              </a:rPr>
              <a:t>  @include img-ajustada(</a:t>
            </a:r>
            <a:endParaRPr b="0" lang="pt-BR" sz="105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50" strike="noStrike" u="none">
                <a:solidFill>
                  <a:srgbClr val="78b9ff"/>
                </a:solidFill>
                <a:effectLst/>
                <a:uFillTx/>
                <a:latin typeface="Courier New"/>
                <a:ea typeface="Courier New"/>
              </a:rPr>
              <a:t>    $altura-carousel); </a:t>
            </a:r>
            <a:endParaRPr b="0" lang="pt-BR" sz="105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50" strike="noStrike" u="none">
                <a:solidFill>
                  <a:srgbClr val="78b9ff"/>
                </a:solidFill>
                <a:effectLst/>
                <a:uFillTx/>
                <a:latin typeface="Courier New"/>
                <a:ea typeface="Courier New"/>
              </a:rPr>
              <a:t>}</a:t>
            </a:r>
            <a:endParaRPr b="0" lang="pt-BR" sz="105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6" name="Text 12"/>
          <p:cNvSpPr/>
          <p:nvPr/>
        </p:nvSpPr>
        <p:spPr>
          <a:xfrm>
            <a:off x="8412480" y="4773240"/>
            <a:ext cx="639360" cy="255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00" strike="noStrike" u="none">
                <a:solidFill>
                  <a:srgbClr val="7b9fc4"/>
                </a:solidFill>
                <a:effectLst/>
                <a:uFillTx/>
                <a:latin typeface="Calibri"/>
                <a:ea typeface="Calibri"/>
              </a:rPr>
              <a:t>4 / 14</a:t>
            </a:r>
            <a:endParaRPr b="0" lang="pt-BR" sz="9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4f6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Shape 0"/>
          <p:cNvSpPr/>
          <p:nvPr/>
        </p:nvSpPr>
        <p:spPr>
          <a:xfrm>
            <a:off x="320040" y="164520"/>
            <a:ext cx="1489680" cy="255240"/>
          </a:xfrm>
          <a:prstGeom prst="rect">
            <a:avLst/>
          </a:prstGeom>
          <a:solidFill>
            <a:srgbClr val="cc6699"/>
          </a:solidFill>
          <a:ln w="12700">
            <a:solidFill>
              <a:srgbClr val="cc6699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pt-BR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8" name="Text 1"/>
          <p:cNvSpPr/>
          <p:nvPr/>
        </p:nvSpPr>
        <p:spPr>
          <a:xfrm>
            <a:off x="320040" y="173880"/>
            <a:ext cx="1489680" cy="255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900" strike="noStrike" u="non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VARIÁVEIS SASS</a:t>
            </a:r>
            <a:endParaRPr b="0" lang="pt-BR" sz="9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9" name="Text 2"/>
          <p:cNvSpPr/>
          <p:nvPr/>
        </p:nvSpPr>
        <p:spPr>
          <a:xfrm>
            <a:off x="320040" y="502920"/>
            <a:ext cx="8228880" cy="502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400" strike="noStrike" u="none">
                <a:solidFill>
                  <a:srgbClr val="0d1b2a"/>
                </a:solidFill>
                <a:effectLst/>
                <a:uFillTx/>
                <a:latin typeface="Trebuchet MS"/>
                <a:ea typeface="Trebuchet MS"/>
              </a:rPr>
              <a:t>$variavel — valores com nome e significado</a:t>
            </a:r>
            <a:endParaRPr b="0" lang="pt-BR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0" name="Shape 3"/>
          <p:cNvSpPr/>
          <p:nvPr/>
        </p:nvSpPr>
        <p:spPr>
          <a:xfrm>
            <a:off x="320040" y="1143000"/>
            <a:ext cx="4937040" cy="3382560"/>
          </a:xfrm>
          <a:prstGeom prst="rect">
            <a:avLst/>
          </a:prstGeom>
          <a:solidFill>
            <a:srgbClr val="0d1320"/>
          </a:solidFill>
          <a:ln w="12700">
            <a:solidFill>
              <a:srgbClr val="1e3a5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pt-BR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1" name="Text 4"/>
          <p:cNvSpPr/>
          <p:nvPr/>
        </p:nvSpPr>
        <p:spPr>
          <a:xfrm>
            <a:off x="457200" y="1280160"/>
            <a:ext cx="4662720" cy="310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50" strike="noStrike" u="none">
                <a:solidFill>
                  <a:srgbClr val="78b9ff"/>
                </a:solidFill>
                <a:effectLst/>
                <a:uFillTx/>
                <a:latin typeface="Courier New"/>
                <a:ea typeface="Courier New"/>
              </a:rPr>
              <a:t>// _variaveis.scss — arquivo central de tokens</a:t>
            </a:r>
            <a:endParaRPr b="0" lang="pt-BR" sz="10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50" strike="noStrike" u="none">
                <a:solidFill>
                  <a:srgbClr val="78b9ff"/>
                </a:solidFill>
                <a:effectLst/>
                <a:uFillTx/>
                <a:latin typeface="Courier New"/>
                <a:ea typeface="Courier New"/>
              </a:rPr>
              <a:t>$cor-primaria:      #0d6efd;</a:t>
            </a:r>
            <a:endParaRPr b="0" lang="pt-BR" sz="10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50" strike="noStrike" u="none">
                <a:solidFill>
                  <a:srgbClr val="78b9ff"/>
                </a:solidFill>
                <a:effectLst/>
                <a:uFillTx/>
                <a:latin typeface="Courier New"/>
                <a:ea typeface="Courier New"/>
              </a:rPr>
              <a:t>$cor-primaria-hover: darken($cor-primaria, 10%);</a:t>
            </a:r>
            <a:endParaRPr b="0" lang="pt-BR" sz="10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50" strike="noStrike" u="none">
                <a:solidFill>
                  <a:srgbClr val="78b9ff"/>
                </a:solidFill>
                <a:effectLst/>
                <a:uFillTx/>
                <a:latin typeface="Courier New"/>
                <a:ea typeface="Courier New"/>
              </a:rPr>
              <a:t>$altura-carousel:   500px;</a:t>
            </a:r>
            <a:endParaRPr b="0" lang="pt-BR" sz="10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50" strike="noStrike" u="none">
                <a:solidFill>
                  <a:srgbClr val="78b9ff"/>
                </a:solidFill>
                <a:effectLst/>
                <a:uFillTx/>
                <a:latin typeface="Courier New"/>
                <a:ea typeface="Courier New"/>
              </a:rPr>
              <a:t>$altura-produto:    220px;</a:t>
            </a:r>
            <a:endParaRPr b="0" lang="pt-BR" sz="10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50" strike="noStrike" u="none">
                <a:solidFill>
                  <a:srgbClr val="78b9ff"/>
                </a:solidFill>
                <a:effectLst/>
                <a:uFillTx/>
                <a:latin typeface="Courier New"/>
                <a:ea typeface="Courier New"/>
              </a:rPr>
              <a:t>$raio-card:         8px;</a:t>
            </a:r>
            <a:endParaRPr b="0" lang="pt-BR" sz="10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endParaRPr b="0" lang="pt-BR" sz="10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50" strike="noStrike" u="none">
                <a:solidFill>
                  <a:srgbClr val="78b9ff"/>
                </a:solidFill>
                <a:effectLst/>
                <a:uFillTx/>
                <a:latin typeface="Courier New"/>
                <a:ea typeface="Courier New"/>
              </a:rPr>
              <a:t>// Custom Properties geradas a partir das variáveis Sass</a:t>
            </a:r>
            <a:endParaRPr b="0" lang="pt-BR" sz="10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50" strike="noStrike" u="none">
                <a:solidFill>
                  <a:srgbClr val="78b9ff"/>
                </a:solidFill>
                <a:effectLst/>
                <a:uFillTx/>
                <a:latin typeface="Courier New"/>
                <a:ea typeface="Courier New"/>
              </a:rPr>
              <a:t>:root {</a:t>
            </a:r>
            <a:endParaRPr b="0" lang="pt-BR" sz="10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50" strike="noStrike" u="none">
                <a:solidFill>
                  <a:srgbClr val="78b9ff"/>
                </a:solidFill>
                <a:effectLst/>
                <a:uFillTx/>
                <a:latin typeface="Courier New"/>
                <a:ea typeface="Courier New"/>
              </a:rPr>
              <a:t>  --ts-fundo:   #{$cor-fundo-light};</a:t>
            </a:r>
            <a:endParaRPr b="0" lang="pt-BR" sz="10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50" strike="noStrike" u="none">
                <a:solidFill>
                  <a:srgbClr val="78b9ff"/>
                </a:solidFill>
                <a:effectLst/>
                <a:uFillTx/>
                <a:latin typeface="Courier New"/>
                <a:ea typeface="Courier New"/>
              </a:rPr>
              <a:t>  --ts-primaria: #{$cor-primaria};</a:t>
            </a:r>
            <a:endParaRPr b="0" lang="pt-BR" sz="10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50" strike="noStrike" u="none">
                <a:solidFill>
                  <a:srgbClr val="78b9ff"/>
                </a:solidFill>
                <a:effectLst/>
                <a:uFillTx/>
                <a:latin typeface="Courier New"/>
                <a:ea typeface="Courier New"/>
              </a:rPr>
              <a:t>}</a:t>
            </a:r>
            <a:endParaRPr b="0" lang="pt-BR" sz="10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graphicFrame>
        <p:nvGraphicFramePr>
          <p:cNvPr id="42" name="Table 0"/>
          <p:cNvGraphicFramePr/>
          <p:nvPr/>
        </p:nvGraphicFramePr>
        <p:xfrm>
          <a:off x="5440680" y="1143000"/>
          <a:ext cx="3382920" cy="3382200"/>
        </p:xfrm>
        <a:graphic>
          <a:graphicData uri="http://schemas.openxmlformats.org/drawingml/2006/table">
            <a:tbl>
              <a:tblPr/>
              <a:tblGrid>
                <a:gridCol w="1371600"/>
                <a:gridCol w="1005840"/>
                <a:gridCol w="1005840"/>
              </a:tblGrid>
              <a:tr h="676440"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1" lang="en-US" sz="1100" strike="noStrike" u="none">
                          <a:solidFill>
                            <a:srgbClr val="ffffff"/>
                          </a:solidFill>
                          <a:effectLst/>
                          <a:uFillTx/>
                          <a:latin typeface="Calibri"/>
                        </a:rPr>
                        <a:t>Critério</a:t>
                      </a:r>
                      <a:endParaRPr b="0" lang="pt-BR" sz="1100" strike="noStrike" u="non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>
                    <a:lnL w="6480">
                      <a:solidFill>
                        <a:srgbClr val="c8d8f0"/>
                      </a:solidFill>
                      <a:prstDash val="solid"/>
                    </a:lnL>
                    <a:lnR w="6480">
                      <a:solidFill>
                        <a:srgbClr val="c8d8f0"/>
                      </a:solidFill>
                      <a:prstDash val="solid"/>
                    </a:lnR>
                    <a:lnT w="6480">
                      <a:solidFill>
                        <a:srgbClr val="c8d8f0"/>
                      </a:solidFill>
                      <a:prstDash val="solid"/>
                    </a:lnT>
                    <a:lnB w="6480">
                      <a:solidFill>
                        <a:srgbClr val="c8d8f0"/>
                      </a:solidFill>
                      <a:prstDash val="solid"/>
                    </a:lnB>
                    <a:solidFill>
                      <a:srgbClr val="0d1b2a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1" lang="en-US" sz="1100" strike="noStrike" u="none">
                          <a:solidFill>
                            <a:srgbClr val="ffffff"/>
                          </a:solidFill>
                          <a:effectLst/>
                          <a:uFillTx/>
                          <a:latin typeface="Calibri"/>
                        </a:rPr>
                        <a:t>$sass-var</a:t>
                      </a:r>
                      <a:endParaRPr b="0" lang="pt-BR" sz="1100" strike="noStrike" u="non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>
                    <a:lnL w="6480">
                      <a:solidFill>
                        <a:srgbClr val="c8d8f0"/>
                      </a:solidFill>
                      <a:prstDash val="solid"/>
                    </a:lnL>
                    <a:lnR w="6480">
                      <a:solidFill>
                        <a:srgbClr val="c8d8f0"/>
                      </a:solidFill>
                      <a:prstDash val="solid"/>
                    </a:lnR>
                    <a:lnT w="6480">
                      <a:solidFill>
                        <a:srgbClr val="c8d8f0"/>
                      </a:solidFill>
                      <a:prstDash val="solid"/>
                    </a:lnT>
                    <a:lnB w="6480">
                      <a:solidFill>
                        <a:srgbClr val="c8d8f0"/>
                      </a:solidFill>
                      <a:prstDash val="solid"/>
                    </a:lnB>
                    <a:solidFill>
                      <a:srgbClr val="8a3060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1" lang="en-US" sz="1100" strike="noStrike" u="none">
                          <a:solidFill>
                            <a:srgbClr val="ffffff"/>
                          </a:solidFill>
                          <a:effectLst/>
                          <a:uFillTx/>
                          <a:latin typeface="Calibri"/>
                        </a:rPr>
                        <a:t>--css-var</a:t>
                      </a:r>
                      <a:endParaRPr b="0" lang="pt-BR" sz="1100" strike="noStrike" u="non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>
                    <a:lnL w="6480">
                      <a:solidFill>
                        <a:srgbClr val="c8d8f0"/>
                      </a:solidFill>
                      <a:prstDash val="solid"/>
                    </a:lnL>
                    <a:lnR w="6480">
                      <a:solidFill>
                        <a:srgbClr val="c8d8f0"/>
                      </a:solidFill>
                      <a:prstDash val="solid"/>
                    </a:lnR>
                    <a:lnT w="6480">
                      <a:solidFill>
                        <a:srgbClr val="c8d8f0"/>
                      </a:solidFill>
                      <a:prstDash val="solid"/>
                    </a:lnT>
                    <a:lnB w="6480">
                      <a:solidFill>
                        <a:srgbClr val="c8d8f0"/>
                      </a:solidFill>
                      <a:prstDash val="solid"/>
                    </a:lnB>
                    <a:solidFill>
                      <a:srgbClr val="1a5276"/>
                    </a:solidFill>
                  </a:tcPr>
                </a:tc>
              </a:tr>
              <a:tr h="676440"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1050" strike="noStrike" u="none">
                          <a:solidFill>
                            <a:srgbClr val="1a1a2e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Existe após o build?</a:t>
                      </a:r>
                      <a:endParaRPr b="0" lang="pt-BR" sz="105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>
                    <a:lnL w="6480">
                      <a:solidFill>
                        <a:srgbClr val="c8d8f0"/>
                      </a:solidFill>
                      <a:prstDash val="solid"/>
                    </a:lnL>
                    <a:lnR w="6480">
                      <a:solidFill>
                        <a:srgbClr val="c8d8f0"/>
                      </a:solidFill>
                      <a:prstDash val="solid"/>
                    </a:lnR>
                    <a:lnT w="6480">
                      <a:solidFill>
                        <a:srgbClr val="c8d8f0"/>
                      </a:solidFill>
                      <a:prstDash val="solid"/>
                    </a:lnT>
                    <a:lnB w="6480">
                      <a:solidFill>
                        <a:srgbClr val="c8d8f0"/>
                      </a:solidFill>
                      <a:prstDash val="solid"/>
                    </a:lnB>
                    <a:solidFill>
                      <a:srgbClr val="ebf0fa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1050" strike="noStrike" u="none">
                          <a:solidFill>
                            <a:srgbClr val="1a1a2e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Não — resolvida no build</a:t>
                      </a:r>
                      <a:endParaRPr b="0" lang="pt-BR" sz="105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>
                    <a:lnL w="6480">
                      <a:solidFill>
                        <a:srgbClr val="c8d8f0"/>
                      </a:solidFill>
                      <a:prstDash val="solid"/>
                    </a:lnL>
                    <a:lnR w="6480">
                      <a:solidFill>
                        <a:srgbClr val="c8d8f0"/>
                      </a:solidFill>
                      <a:prstDash val="solid"/>
                    </a:lnR>
                    <a:lnT w="6480">
                      <a:solidFill>
                        <a:srgbClr val="c8d8f0"/>
                      </a:solidFill>
                      <a:prstDash val="solid"/>
                    </a:lnT>
                    <a:lnB w="6480">
                      <a:solidFill>
                        <a:srgbClr val="c8d8f0"/>
                      </a:solidFill>
                      <a:prstDash val="solid"/>
                    </a:lnB>
                    <a:solidFill>
                      <a:srgbClr val="f8f0f6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1050" strike="noStrike" u="none">
                          <a:solidFill>
                            <a:srgbClr val="1a1a2e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Sim — existe em runtime</a:t>
                      </a:r>
                      <a:endParaRPr b="0" lang="pt-BR" sz="105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>
                    <a:lnL w="6480">
                      <a:solidFill>
                        <a:srgbClr val="c8d8f0"/>
                      </a:solidFill>
                      <a:prstDash val="solid"/>
                    </a:lnL>
                    <a:lnR w="6480">
                      <a:solidFill>
                        <a:srgbClr val="c8d8f0"/>
                      </a:solidFill>
                      <a:prstDash val="solid"/>
                    </a:lnR>
                    <a:lnT w="6480">
                      <a:solidFill>
                        <a:srgbClr val="c8d8f0"/>
                      </a:solidFill>
                      <a:prstDash val="solid"/>
                    </a:lnT>
                    <a:lnB w="6480">
                      <a:solidFill>
                        <a:srgbClr val="c8d8f0"/>
                      </a:solidFill>
                      <a:prstDash val="solid"/>
                    </a:lnB>
                    <a:solidFill>
                      <a:srgbClr val="f8f0f6"/>
                    </a:solidFill>
                  </a:tcPr>
                </a:tc>
              </a:tr>
              <a:tr h="676440"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1050" strike="noStrike" u="none">
                          <a:solidFill>
                            <a:srgbClr val="1a1a2e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Pode mudar com JS?</a:t>
                      </a:r>
                      <a:endParaRPr b="0" lang="pt-BR" sz="105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>
                    <a:lnL w="6480">
                      <a:solidFill>
                        <a:srgbClr val="c8d8f0"/>
                      </a:solidFill>
                      <a:prstDash val="solid"/>
                    </a:lnL>
                    <a:lnR w="6480">
                      <a:solidFill>
                        <a:srgbClr val="c8d8f0"/>
                      </a:solidFill>
                      <a:prstDash val="solid"/>
                    </a:lnR>
                    <a:lnT w="6480">
                      <a:solidFill>
                        <a:srgbClr val="c8d8f0"/>
                      </a:solidFill>
                      <a:prstDash val="solid"/>
                    </a:lnT>
                    <a:lnB w="6480">
                      <a:solidFill>
                        <a:srgbClr val="c8d8f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1050" strike="noStrike" u="none">
                          <a:solidFill>
                            <a:srgbClr val="1a1a2e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Não</a:t>
                      </a:r>
                      <a:endParaRPr b="0" lang="pt-BR" sz="105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>
                    <a:lnL w="6480">
                      <a:solidFill>
                        <a:srgbClr val="c8d8f0"/>
                      </a:solidFill>
                      <a:prstDash val="solid"/>
                    </a:lnL>
                    <a:lnR w="6480">
                      <a:solidFill>
                        <a:srgbClr val="c8d8f0"/>
                      </a:solidFill>
                      <a:prstDash val="solid"/>
                    </a:lnR>
                    <a:lnT w="6480">
                      <a:solidFill>
                        <a:srgbClr val="c8d8f0"/>
                      </a:solidFill>
                      <a:prstDash val="solid"/>
                    </a:lnT>
                    <a:lnB w="6480">
                      <a:solidFill>
                        <a:srgbClr val="c8d8f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1050" strike="noStrike" u="none">
                          <a:solidFill>
                            <a:srgbClr val="1a1a2e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Sim — data-tema</a:t>
                      </a:r>
                      <a:endParaRPr b="0" lang="pt-BR" sz="105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>
                    <a:lnL w="6480">
                      <a:solidFill>
                        <a:srgbClr val="c8d8f0"/>
                      </a:solidFill>
                      <a:prstDash val="solid"/>
                    </a:lnL>
                    <a:lnR w="6480">
                      <a:solidFill>
                        <a:srgbClr val="c8d8f0"/>
                      </a:solidFill>
                      <a:prstDash val="solid"/>
                    </a:lnR>
                    <a:lnT w="6480">
                      <a:solidFill>
                        <a:srgbClr val="c8d8f0"/>
                      </a:solidFill>
                      <a:prstDash val="solid"/>
                    </a:lnT>
                    <a:lnB w="6480">
                      <a:solidFill>
                        <a:srgbClr val="c8d8f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676440"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1050" strike="noStrike" u="none">
                          <a:solidFill>
                            <a:srgbClr val="1a1a2e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Cálculos no build</a:t>
                      </a:r>
                      <a:endParaRPr b="0" lang="pt-BR" sz="105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>
                    <a:lnL w="6480">
                      <a:solidFill>
                        <a:srgbClr val="c8d8f0"/>
                      </a:solidFill>
                      <a:prstDash val="solid"/>
                    </a:lnL>
                    <a:lnR w="6480">
                      <a:solidFill>
                        <a:srgbClr val="c8d8f0"/>
                      </a:solidFill>
                      <a:prstDash val="solid"/>
                    </a:lnR>
                    <a:lnT w="6480">
                      <a:solidFill>
                        <a:srgbClr val="c8d8f0"/>
                      </a:solidFill>
                      <a:prstDash val="solid"/>
                    </a:lnT>
                    <a:lnB w="6480">
                      <a:solidFill>
                        <a:srgbClr val="c8d8f0"/>
                      </a:solidFill>
                      <a:prstDash val="solid"/>
                    </a:lnB>
                    <a:solidFill>
                      <a:srgbClr val="ebf0fa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1050" strike="noStrike" u="none">
                          <a:solidFill>
                            <a:srgbClr val="1a1a2e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Sim — darken(), math()</a:t>
                      </a:r>
                      <a:endParaRPr b="0" lang="pt-BR" sz="105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>
                    <a:lnL w="6480">
                      <a:solidFill>
                        <a:srgbClr val="c8d8f0"/>
                      </a:solidFill>
                      <a:prstDash val="solid"/>
                    </a:lnL>
                    <a:lnR w="6480">
                      <a:solidFill>
                        <a:srgbClr val="c8d8f0"/>
                      </a:solidFill>
                      <a:prstDash val="solid"/>
                    </a:lnR>
                    <a:lnT w="6480">
                      <a:solidFill>
                        <a:srgbClr val="c8d8f0"/>
                      </a:solidFill>
                      <a:prstDash val="solid"/>
                    </a:lnT>
                    <a:lnB w="6480">
                      <a:solidFill>
                        <a:srgbClr val="c8d8f0"/>
                      </a:solidFill>
                      <a:prstDash val="solid"/>
                    </a:lnB>
                    <a:solidFill>
                      <a:srgbClr val="f8f0f6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1050" strike="noStrike" u="none">
                          <a:solidFill>
                            <a:srgbClr val="1a1a2e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Limitado — calc()</a:t>
                      </a:r>
                      <a:endParaRPr b="0" lang="pt-BR" sz="105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>
                    <a:lnL w="6480">
                      <a:solidFill>
                        <a:srgbClr val="c8d8f0"/>
                      </a:solidFill>
                      <a:prstDash val="solid"/>
                    </a:lnL>
                    <a:lnR w="6480">
                      <a:solidFill>
                        <a:srgbClr val="c8d8f0"/>
                      </a:solidFill>
                      <a:prstDash val="solid"/>
                    </a:lnR>
                    <a:lnT w="6480">
                      <a:solidFill>
                        <a:srgbClr val="c8d8f0"/>
                      </a:solidFill>
                      <a:prstDash val="solid"/>
                    </a:lnT>
                    <a:lnB w="6480">
                      <a:solidFill>
                        <a:srgbClr val="c8d8f0"/>
                      </a:solidFill>
                      <a:prstDash val="solid"/>
                    </a:lnB>
                    <a:solidFill>
                      <a:srgbClr val="f8f0f6"/>
                    </a:solidFill>
                  </a:tcPr>
                </a:tc>
              </a:tr>
              <a:tr h="676440"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1050" strike="noStrike" u="none">
                          <a:solidFill>
                            <a:srgbClr val="1a1a2e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Uso ideal</a:t>
                      </a:r>
                      <a:endParaRPr b="0" lang="pt-BR" sz="105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>
                    <a:lnL w="6480">
                      <a:solidFill>
                        <a:srgbClr val="c8d8f0"/>
                      </a:solidFill>
                      <a:prstDash val="solid"/>
                    </a:lnL>
                    <a:lnR w="6480">
                      <a:solidFill>
                        <a:srgbClr val="c8d8f0"/>
                      </a:solidFill>
                      <a:prstDash val="solid"/>
                    </a:lnR>
                    <a:lnT w="6480">
                      <a:solidFill>
                        <a:srgbClr val="c8d8f0"/>
                      </a:solidFill>
                      <a:prstDash val="solid"/>
                    </a:lnT>
                    <a:lnB w="6480">
                      <a:solidFill>
                        <a:srgbClr val="c8d8f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1050" strike="noStrike" u="none">
                          <a:solidFill>
                            <a:srgbClr val="1a1a2e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Dimensões, breakpoints</a:t>
                      </a:r>
                      <a:endParaRPr b="0" lang="pt-BR" sz="105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>
                    <a:lnL w="6480">
                      <a:solidFill>
                        <a:srgbClr val="c8d8f0"/>
                      </a:solidFill>
                      <a:prstDash val="solid"/>
                    </a:lnL>
                    <a:lnR w="6480">
                      <a:solidFill>
                        <a:srgbClr val="c8d8f0"/>
                      </a:solidFill>
                      <a:prstDash val="solid"/>
                    </a:lnR>
                    <a:lnT w="6480">
                      <a:solidFill>
                        <a:srgbClr val="c8d8f0"/>
                      </a:solidFill>
                      <a:prstDash val="solid"/>
                    </a:lnT>
                    <a:lnB w="6480">
                      <a:solidFill>
                        <a:srgbClr val="c8d8f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1050" strike="noStrike" u="none">
                          <a:solidFill>
                            <a:srgbClr val="1a1a2e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Cores, temas, dark mode</a:t>
                      </a:r>
                      <a:endParaRPr b="0" lang="pt-BR" sz="105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>
                    <a:lnL w="6480">
                      <a:solidFill>
                        <a:srgbClr val="c8d8f0"/>
                      </a:solidFill>
                      <a:prstDash val="solid"/>
                    </a:lnL>
                    <a:lnR w="6480">
                      <a:solidFill>
                        <a:srgbClr val="c8d8f0"/>
                      </a:solidFill>
                      <a:prstDash val="solid"/>
                    </a:lnR>
                    <a:lnT w="6480">
                      <a:solidFill>
                        <a:srgbClr val="c8d8f0"/>
                      </a:solidFill>
                      <a:prstDash val="solid"/>
                    </a:lnT>
                    <a:lnB w="6480">
                      <a:solidFill>
                        <a:srgbClr val="c8d8f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3" name="Text 5"/>
          <p:cNvSpPr/>
          <p:nvPr/>
        </p:nvSpPr>
        <p:spPr>
          <a:xfrm>
            <a:off x="8412480" y="4773240"/>
            <a:ext cx="639360" cy="255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00" strike="noStrike" u="none">
                <a:solidFill>
                  <a:srgbClr val="7b9fc4"/>
                </a:solidFill>
                <a:effectLst/>
                <a:uFillTx/>
                <a:latin typeface="Calibri"/>
                <a:ea typeface="Calibri"/>
              </a:rPr>
              <a:t>5 / 14</a:t>
            </a:r>
            <a:endParaRPr b="0" lang="pt-BR" sz="9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Shape 0"/>
          <p:cNvSpPr/>
          <p:nvPr/>
        </p:nvSpPr>
        <p:spPr>
          <a:xfrm>
            <a:off x="0" y="0"/>
            <a:ext cx="54000" cy="5142960"/>
          </a:xfrm>
          <a:prstGeom prst="rect">
            <a:avLst/>
          </a:prstGeom>
          <a:solidFill>
            <a:srgbClr val="cc6699"/>
          </a:solidFill>
          <a:ln w="12700">
            <a:solidFill>
              <a:srgbClr val="cc6699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pt-BR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5" name="Shape 1"/>
          <p:cNvSpPr/>
          <p:nvPr/>
        </p:nvSpPr>
        <p:spPr>
          <a:xfrm>
            <a:off x="320040" y="182880"/>
            <a:ext cx="881640" cy="255240"/>
          </a:xfrm>
          <a:prstGeom prst="rect">
            <a:avLst/>
          </a:prstGeom>
          <a:solidFill>
            <a:srgbClr val="cc6699"/>
          </a:solidFill>
          <a:ln w="12700">
            <a:solidFill>
              <a:srgbClr val="cc6699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pt-BR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6" name="Text 2"/>
          <p:cNvSpPr/>
          <p:nvPr/>
        </p:nvSpPr>
        <p:spPr>
          <a:xfrm>
            <a:off x="320040" y="191880"/>
            <a:ext cx="881640" cy="255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900" strike="noStrike" u="non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NESTING</a:t>
            </a:r>
            <a:endParaRPr b="0" lang="pt-BR" sz="9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7" name="Text 3"/>
          <p:cNvSpPr/>
          <p:nvPr/>
        </p:nvSpPr>
        <p:spPr>
          <a:xfrm>
            <a:off x="320040" y="457200"/>
            <a:ext cx="8228880" cy="529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600" strike="noStrike" u="none">
                <a:solidFill>
                  <a:srgbClr val="ffffff"/>
                </a:solidFill>
                <a:effectLst/>
                <a:uFillTx/>
                <a:latin typeface="Trebuchet MS"/>
                <a:ea typeface="Trebuchet MS"/>
              </a:rPr>
              <a:t>Hierarquia visual que espelha o HTML</a:t>
            </a:r>
            <a:endParaRPr b="0" lang="pt-BR" sz="26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8" name="Shape 4"/>
          <p:cNvSpPr/>
          <p:nvPr/>
        </p:nvSpPr>
        <p:spPr>
          <a:xfrm>
            <a:off x="228600" y="1143000"/>
            <a:ext cx="4114080" cy="2559600"/>
          </a:xfrm>
          <a:prstGeom prst="rect">
            <a:avLst/>
          </a:prstGeom>
          <a:solidFill>
            <a:srgbClr val="162444"/>
          </a:solidFill>
          <a:ln w="12700">
            <a:solidFill>
              <a:srgbClr val="2a4a7f"/>
            </a:solidFill>
            <a:round/>
          </a:ln>
          <a:effectLst>
            <a:outerShdw algn="bl" blurRad="101520" dir="8100000" dist="25455" kx="0" ky="0" rotWithShape="0" sx="100000" sy="100000">
              <a:srgbClr val="000000">
                <a:alpha val="20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pt-BR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9" name="Text 5"/>
          <p:cNvSpPr/>
          <p:nvPr/>
        </p:nvSpPr>
        <p:spPr>
          <a:xfrm>
            <a:off x="365760" y="1216080"/>
            <a:ext cx="3839760" cy="319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200" strike="noStrike" u="none">
                <a:solidFill>
                  <a:srgbClr val="e74c3c"/>
                </a:solidFill>
                <a:effectLst/>
                <a:uFillTx/>
                <a:latin typeface="Trebuchet MS"/>
                <a:ea typeface="Trebuchet MS"/>
              </a:rPr>
              <a:t>CSS puro — repetição</a:t>
            </a:r>
            <a:endParaRPr b="0" lang="pt-BR" sz="12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0" name="Shape 6"/>
          <p:cNvSpPr/>
          <p:nvPr/>
        </p:nvSpPr>
        <p:spPr>
          <a:xfrm>
            <a:off x="320040" y="1572840"/>
            <a:ext cx="3976920" cy="2010960"/>
          </a:xfrm>
          <a:prstGeom prst="rect">
            <a:avLst/>
          </a:prstGeom>
          <a:solidFill>
            <a:srgbClr val="0d1320"/>
          </a:solidFill>
          <a:ln w="12700">
            <a:solidFill>
              <a:srgbClr val="1e3a5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pt-BR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1" name="Text 7"/>
          <p:cNvSpPr/>
          <p:nvPr/>
        </p:nvSpPr>
        <p:spPr>
          <a:xfrm>
            <a:off x="457200" y="1710000"/>
            <a:ext cx="3702600" cy="1736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50" strike="noStrike" u="none">
                <a:solidFill>
                  <a:srgbClr val="78b9ff"/>
                </a:solidFill>
                <a:effectLst/>
                <a:uFillTx/>
                <a:latin typeface="Courier New"/>
                <a:ea typeface="Courier New"/>
              </a:rPr>
              <a:t>#slider .carousel-item img {</a:t>
            </a:r>
            <a:endParaRPr b="0" lang="pt-BR" sz="105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50" strike="noStrike" u="none">
                <a:solidFill>
                  <a:srgbClr val="78b9ff"/>
                </a:solidFill>
                <a:effectLst/>
                <a:uFillTx/>
                <a:latin typeface="Courier New"/>
                <a:ea typeface="Courier New"/>
              </a:rPr>
              <a:t>  height: 500px;</a:t>
            </a:r>
            <a:endParaRPr b="0" lang="pt-BR" sz="105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50" strike="noStrike" u="none">
                <a:solidFill>
                  <a:srgbClr val="78b9ff"/>
                </a:solidFill>
                <a:effectLst/>
                <a:uFillTx/>
                <a:latin typeface="Courier New"/>
                <a:ea typeface="Courier New"/>
              </a:rPr>
              <a:t>}</a:t>
            </a:r>
            <a:endParaRPr b="0" lang="pt-BR" sz="105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50" strike="noStrike" u="none">
                <a:solidFill>
                  <a:srgbClr val="78b9ff"/>
                </a:solidFill>
                <a:effectLst/>
                <a:uFillTx/>
                <a:latin typeface="Courier New"/>
                <a:ea typeface="Courier New"/>
              </a:rPr>
              <a:t>#slider .carousel-caption {</a:t>
            </a:r>
            <a:endParaRPr b="0" lang="pt-BR" sz="105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50" strike="noStrike" u="none">
                <a:solidFill>
                  <a:srgbClr val="78b9ff"/>
                </a:solidFill>
                <a:effectLst/>
                <a:uFillTx/>
                <a:latin typeface="Courier New"/>
                <a:ea typeface="Courier New"/>
              </a:rPr>
              <a:t>  background: rgba(0,0,0,.5);</a:t>
            </a:r>
            <a:endParaRPr b="0" lang="pt-BR" sz="105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50" strike="noStrike" u="none">
                <a:solidFill>
                  <a:srgbClr val="78b9ff"/>
                </a:solidFill>
                <a:effectLst/>
                <a:uFillTx/>
                <a:latin typeface="Courier New"/>
                <a:ea typeface="Courier New"/>
              </a:rPr>
              <a:t>}</a:t>
            </a:r>
            <a:endParaRPr b="0" lang="pt-BR" sz="105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2" name="Shape 8"/>
          <p:cNvSpPr/>
          <p:nvPr/>
        </p:nvSpPr>
        <p:spPr>
          <a:xfrm>
            <a:off x="4572000" y="1143000"/>
            <a:ext cx="4342680" cy="2559600"/>
          </a:xfrm>
          <a:prstGeom prst="rect">
            <a:avLst/>
          </a:prstGeom>
          <a:solidFill>
            <a:srgbClr val="162444"/>
          </a:solidFill>
          <a:ln w="12700">
            <a:solidFill>
              <a:srgbClr val="2a4a7f"/>
            </a:solidFill>
            <a:round/>
          </a:ln>
          <a:effectLst>
            <a:outerShdw algn="bl" blurRad="101520" dir="8100000" dist="25455" kx="0" ky="0" rotWithShape="0" sx="100000" sy="100000">
              <a:srgbClr val="000000">
                <a:alpha val="20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pt-BR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3" name="Text 9"/>
          <p:cNvSpPr/>
          <p:nvPr/>
        </p:nvSpPr>
        <p:spPr>
          <a:xfrm>
            <a:off x="4709160" y="1216080"/>
            <a:ext cx="4068360" cy="319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200" strike="noStrike" u="none">
                <a:solidFill>
                  <a:srgbClr val="2ecc71"/>
                </a:solidFill>
                <a:effectLst/>
                <a:uFillTx/>
                <a:latin typeface="Trebuchet MS"/>
                <a:ea typeface="Trebuchet MS"/>
              </a:rPr>
              <a:t>SCSS — hierarquia limpa</a:t>
            </a:r>
            <a:endParaRPr b="0" lang="pt-BR" sz="12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4" name="Shape 10"/>
          <p:cNvSpPr/>
          <p:nvPr/>
        </p:nvSpPr>
        <p:spPr>
          <a:xfrm>
            <a:off x="4663440" y="1572840"/>
            <a:ext cx="4205520" cy="2010960"/>
          </a:xfrm>
          <a:prstGeom prst="rect">
            <a:avLst/>
          </a:prstGeom>
          <a:solidFill>
            <a:srgbClr val="0d1320"/>
          </a:solidFill>
          <a:ln w="12700">
            <a:solidFill>
              <a:srgbClr val="1e3a5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pt-BR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5" name="Text 11"/>
          <p:cNvSpPr/>
          <p:nvPr/>
        </p:nvSpPr>
        <p:spPr>
          <a:xfrm>
            <a:off x="4800600" y="1710000"/>
            <a:ext cx="3931200" cy="1736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50" strike="noStrike" u="none">
                <a:solidFill>
                  <a:srgbClr val="78b9ff"/>
                </a:solidFill>
                <a:effectLst/>
                <a:uFillTx/>
                <a:latin typeface="Courier New"/>
                <a:ea typeface="Courier New"/>
              </a:rPr>
              <a:t>#slider {</a:t>
            </a:r>
            <a:endParaRPr b="0" lang="pt-BR" sz="105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50" strike="noStrike" u="none">
                <a:solidFill>
                  <a:srgbClr val="78b9ff"/>
                </a:solidFill>
                <a:effectLst/>
                <a:uFillTx/>
                <a:latin typeface="Courier New"/>
                <a:ea typeface="Courier New"/>
              </a:rPr>
              <a:t>  .carousel-item img {</a:t>
            </a:r>
            <a:endParaRPr b="0" lang="pt-BR" sz="105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50" strike="noStrike" u="none">
                <a:solidFill>
                  <a:srgbClr val="78b9ff"/>
                </a:solidFill>
                <a:effectLst/>
                <a:uFillTx/>
                <a:latin typeface="Courier New"/>
                <a:ea typeface="Courier New"/>
              </a:rPr>
              <a:t>    height: $altura-carousel;</a:t>
            </a:r>
            <a:endParaRPr b="0" lang="pt-BR" sz="105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50" strike="noStrike" u="none">
                <a:solidFill>
                  <a:srgbClr val="78b9ff"/>
                </a:solidFill>
                <a:effectLst/>
                <a:uFillTx/>
                <a:latin typeface="Courier New"/>
                <a:ea typeface="Courier New"/>
              </a:rPr>
              <a:t>  }</a:t>
            </a:r>
            <a:endParaRPr b="0" lang="pt-BR" sz="105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50" strike="noStrike" u="none">
                <a:solidFill>
                  <a:srgbClr val="78b9ff"/>
                </a:solidFill>
                <a:effectLst/>
                <a:uFillTx/>
                <a:latin typeface="Courier New"/>
                <a:ea typeface="Courier New"/>
              </a:rPr>
              <a:t>  .carousel-caption {</a:t>
            </a:r>
            <a:endParaRPr b="0" lang="pt-BR" sz="105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50" strike="noStrike" u="none">
                <a:solidFill>
                  <a:srgbClr val="78b9ff"/>
                </a:solidFill>
                <a:effectLst/>
                <a:uFillTx/>
                <a:latin typeface="Courier New"/>
                <a:ea typeface="Courier New"/>
              </a:rPr>
              <a:t>    background: rgba(0,0,0,.5);</a:t>
            </a:r>
            <a:endParaRPr b="0" lang="pt-BR" sz="105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50" strike="noStrike" u="none">
                <a:solidFill>
                  <a:srgbClr val="78b9ff"/>
                </a:solidFill>
                <a:effectLst/>
                <a:uFillTx/>
                <a:latin typeface="Courier New"/>
                <a:ea typeface="Courier New"/>
              </a:rPr>
              <a:t>  }</a:t>
            </a:r>
            <a:endParaRPr b="0" lang="pt-BR" sz="105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50" strike="noStrike" u="none">
                <a:solidFill>
                  <a:srgbClr val="78b9ff"/>
                </a:solidFill>
                <a:effectLst/>
                <a:uFillTx/>
                <a:latin typeface="Courier New"/>
                <a:ea typeface="Courier New"/>
              </a:rPr>
              <a:t>}</a:t>
            </a:r>
            <a:endParaRPr b="0" lang="pt-BR" sz="105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6" name="Shape 12"/>
          <p:cNvSpPr/>
          <p:nvPr/>
        </p:nvSpPr>
        <p:spPr>
          <a:xfrm>
            <a:off x="228600" y="3840480"/>
            <a:ext cx="8686080" cy="1096560"/>
          </a:xfrm>
          <a:prstGeom prst="rect">
            <a:avLst/>
          </a:prstGeom>
          <a:solidFill>
            <a:srgbClr val="1b3a6b"/>
          </a:solidFill>
          <a:ln w="12700">
            <a:solidFill>
              <a:srgbClr val="2a4a7f"/>
            </a:solidFill>
            <a:round/>
          </a:ln>
          <a:effectLst>
            <a:outerShdw algn="bl" blurRad="101520" dir="8100000" dist="25455" kx="0" ky="0" rotWithShape="0" sx="100000" sy="100000">
              <a:srgbClr val="000000">
                <a:alpha val="20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pt-BR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7" name="Text 13"/>
          <p:cNvSpPr/>
          <p:nvPr/>
        </p:nvSpPr>
        <p:spPr>
          <a:xfrm>
            <a:off x="411480" y="3913560"/>
            <a:ext cx="3199680" cy="346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300" strike="noStrike" u="none">
                <a:solidFill>
                  <a:srgbClr val="ffffff"/>
                </a:solidFill>
                <a:effectLst/>
                <a:uFillTx/>
                <a:latin typeface="Trebuchet MS"/>
                <a:ea typeface="Trebuchet MS"/>
              </a:rPr>
              <a:t>O seletor &amp;  (parent selector):</a:t>
            </a:r>
            <a:endParaRPr b="0" lang="pt-BR" sz="13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8" name="Shape 14"/>
          <p:cNvSpPr/>
          <p:nvPr/>
        </p:nvSpPr>
        <p:spPr>
          <a:xfrm>
            <a:off x="3474720" y="3913560"/>
            <a:ext cx="5302800" cy="913680"/>
          </a:xfrm>
          <a:prstGeom prst="rect">
            <a:avLst/>
          </a:prstGeom>
          <a:solidFill>
            <a:srgbClr val="0d1320"/>
          </a:solidFill>
          <a:ln w="12700">
            <a:solidFill>
              <a:srgbClr val="1e3a5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pt-BR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9" name="Text 15"/>
          <p:cNvSpPr/>
          <p:nvPr/>
        </p:nvSpPr>
        <p:spPr>
          <a:xfrm>
            <a:off x="3611880" y="4050720"/>
            <a:ext cx="5028480" cy="639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50" strike="noStrike" u="none">
                <a:solidFill>
                  <a:srgbClr val="78b9ff"/>
                </a:solidFill>
                <a:effectLst/>
                <a:uFillTx/>
                <a:latin typeface="Courier New"/>
                <a:ea typeface="Courier New"/>
              </a:rPr>
              <a:t>.btn-primary { background: $cor-primaria;   &amp;:hover { background: darken($cor-primaria, 10%); }   &amp;:active { transform: scale(0.98); } }</a:t>
            </a:r>
            <a:endParaRPr b="0" lang="pt-BR" sz="105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0" name="Text 16"/>
          <p:cNvSpPr/>
          <p:nvPr/>
        </p:nvSpPr>
        <p:spPr>
          <a:xfrm>
            <a:off x="8412480" y="4773240"/>
            <a:ext cx="639360" cy="255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00" strike="noStrike" u="none">
                <a:solidFill>
                  <a:srgbClr val="7b9fc4"/>
                </a:solidFill>
                <a:effectLst/>
                <a:uFillTx/>
                <a:latin typeface="Calibri"/>
                <a:ea typeface="Calibri"/>
              </a:rPr>
              <a:t>6 / 14</a:t>
            </a:r>
            <a:endParaRPr b="0" lang="pt-BR" sz="9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4f6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Shape 0"/>
          <p:cNvSpPr/>
          <p:nvPr/>
        </p:nvSpPr>
        <p:spPr>
          <a:xfrm>
            <a:off x="320040" y="164520"/>
            <a:ext cx="1576800" cy="255240"/>
          </a:xfrm>
          <a:prstGeom prst="rect">
            <a:avLst/>
          </a:prstGeom>
          <a:solidFill>
            <a:srgbClr val="cc6699"/>
          </a:solidFill>
          <a:ln w="12700">
            <a:solidFill>
              <a:srgbClr val="cc6699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pt-BR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2" name="Text 1"/>
          <p:cNvSpPr/>
          <p:nvPr/>
        </p:nvSpPr>
        <p:spPr>
          <a:xfrm>
            <a:off x="320040" y="173880"/>
            <a:ext cx="1576800" cy="255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900" strike="noStrike" u="non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PARCIAIS &amp; @USE</a:t>
            </a:r>
            <a:endParaRPr b="0" lang="pt-BR" sz="9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3" name="Text 2"/>
          <p:cNvSpPr/>
          <p:nvPr/>
        </p:nvSpPr>
        <p:spPr>
          <a:xfrm>
            <a:off x="320040" y="502920"/>
            <a:ext cx="8228880" cy="502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400" strike="noStrike" u="none">
                <a:solidFill>
                  <a:srgbClr val="0d1b2a"/>
                </a:solidFill>
                <a:effectLst/>
                <a:uFillTx/>
                <a:latin typeface="Trebuchet MS"/>
                <a:ea typeface="Trebuchet MS"/>
              </a:rPr>
              <a:t>Organize o SCSS como o código JavaScript</a:t>
            </a:r>
            <a:endParaRPr b="0" lang="pt-BR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4" name="Shape 3"/>
          <p:cNvSpPr/>
          <p:nvPr/>
        </p:nvSpPr>
        <p:spPr>
          <a:xfrm>
            <a:off x="320040" y="1143000"/>
            <a:ext cx="3016800" cy="3656880"/>
          </a:xfrm>
          <a:prstGeom prst="rect">
            <a:avLst/>
          </a:prstGeom>
          <a:solidFill>
            <a:srgbClr val="0d1b2a"/>
          </a:solidFill>
          <a:ln w="12700">
            <a:solidFill>
              <a:srgbClr val="2a4a7f"/>
            </a:solidFill>
            <a:round/>
          </a:ln>
          <a:effectLst>
            <a:outerShdw algn="bl" blurRad="101520" dir="8100000" dist="25455" kx="0" ky="0" rotWithShape="0" sx="100000" sy="100000">
              <a:srgbClr val="000000">
                <a:alpha val="20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pt-BR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5" name="Text 4"/>
          <p:cNvSpPr/>
          <p:nvPr/>
        </p:nvSpPr>
        <p:spPr>
          <a:xfrm>
            <a:off x="457200" y="1234440"/>
            <a:ext cx="2742480" cy="319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200" strike="noStrike" u="none">
                <a:solidFill>
                  <a:srgbClr val="f4a742"/>
                </a:solidFill>
                <a:effectLst/>
                <a:uFillTx/>
                <a:latin typeface="Trebuchet MS"/>
                <a:ea typeface="Trebuchet MS"/>
              </a:rPr>
              <a:t>Estrutura de arquivos</a:t>
            </a:r>
            <a:endParaRPr b="0" lang="pt-BR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6" name="Shape 5"/>
          <p:cNvSpPr/>
          <p:nvPr/>
        </p:nvSpPr>
        <p:spPr>
          <a:xfrm>
            <a:off x="457200" y="1600200"/>
            <a:ext cx="2788200" cy="3062520"/>
          </a:xfrm>
          <a:prstGeom prst="rect">
            <a:avLst/>
          </a:prstGeom>
          <a:solidFill>
            <a:srgbClr val="0d1320"/>
          </a:solidFill>
          <a:ln w="12700">
            <a:solidFill>
              <a:srgbClr val="1e3a5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pt-BR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7" name="Text 6"/>
          <p:cNvSpPr/>
          <p:nvPr/>
        </p:nvSpPr>
        <p:spPr>
          <a:xfrm>
            <a:off x="594360" y="1737360"/>
            <a:ext cx="2513880" cy="2788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50" strike="noStrike" u="none">
                <a:solidFill>
                  <a:srgbClr val="78b9ff"/>
                </a:solidFill>
                <a:effectLst/>
                <a:uFillTx/>
                <a:latin typeface="Courier New"/>
                <a:ea typeface="Courier New"/>
              </a:rPr>
              <a:t>scss/</a:t>
            </a:r>
            <a:endParaRPr b="0" lang="pt-BR" sz="10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50" strike="noStrike" u="none">
                <a:solidFill>
                  <a:srgbClr val="78b9ff"/>
                </a:solidFill>
                <a:effectLst/>
                <a:uFillTx/>
                <a:latin typeface="Courier New"/>
                <a:ea typeface="Courier New"/>
              </a:rPr>
              <a:t>├── _variaveis.scss</a:t>
            </a:r>
            <a:endParaRPr b="0" lang="pt-BR" sz="10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50" strike="noStrike" u="none">
                <a:solidFill>
                  <a:srgbClr val="78b9ff"/>
                </a:solidFill>
                <a:effectLst/>
                <a:uFillTx/>
                <a:latin typeface="Courier New"/>
                <a:ea typeface="Courier New"/>
              </a:rPr>
              <a:t>├── _navbar.scss</a:t>
            </a:r>
            <a:endParaRPr b="0" lang="pt-BR" sz="10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50" strike="noStrike" u="none">
                <a:solidFill>
                  <a:srgbClr val="78b9ff"/>
                </a:solidFill>
                <a:effectLst/>
                <a:uFillTx/>
                <a:latin typeface="Courier New"/>
                <a:ea typeface="Courier New"/>
              </a:rPr>
              <a:t>├── _carousel.scss</a:t>
            </a:r>
            <a:endParaRPr b="0" lang="pt-BR" sz="10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50" strike="noStrike" u="none">
                <a:solidFill>
                  <a:srgbClr val="78b9ff"/>
                </a:solidFill>
                <a:effectLst/>
                <a:uFillTx/>
                <a:latin typeface="Courier New"/>
                <a:ea typeface="Courier New"/>
              </a:rPr>
              <a:t>├── _cards.scss</a:t>
            </a:r>
            <a:endParaRPr b="0" lang="pt-BR" sz="10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50" strike="noStrike" u="none">
                <a:solidFill>
                  <a:srgbClr val="78b9ff"/>
                </a:solidFill>
                <a:effectLst/>
                <a:uFillTx/>
                <a:latin typeface="Courier New"/>
                <a:ea typeface="Courier New"/>
              </a:rPr>
              <a:t>├── _contato.scss</a:t>
            </a:r>
            <a:endParaRPr b="0" lang="pt-BR" sz="10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50" strike="noStrike" u="none">
                <a:solidFill>
                  <a:srgbClr val="78b9ff"/>
                </a:solidFill>
                <a:effectLst/>
                <a:uFillTx/>
                <a:latin typeface="Courier New"/>
                <a:ea typeface="Courier New"/>
              </a:rPr>
              <a:t>└── style.scss ← principal</a:t>
            </a:r>
            <a:endParaRPr b="0" lang="pt-BR" sz="10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8" name="Shape 7"/>
          <p:cNvSpPr/>
          <p:nvPr/>
        </p:nvSpPr>
        <p:spPr>
          <a:xfrm>
            <a:off x="3520440" y="1143000"/>
            <a:ext cx="5302800" cy="3656880"/>
          </a:xfrm>
          <a:prstGeom prst="rect">
            <a:avLst/>
          </a:prstGeom>
          <a:solidFill>
            <a:srgbClr val="0d1b2a"/>
          </a:solidFill>
          <a:ln w="12700">
            <a:solidFill>
              <a:srgbClr val="2a4a7f"/>
            </a:solidFill>
            <a:round/>
          </a:ln>
          <a:effectLst>
            <a:outerShdw algn="bl" blurRad="101520" dir="8100000" dist="25455" kx="0" ky="0" rotWithShape="0" sx="100000" sy="100000">
              <a:srgbClr val="000000">
                <a:alpha val="20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pt-BR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9" name="Text 8"/>
          <p:cNvSpPr/>
          <p:nvPr/>
        </p:nvSpPr>
        <p:spPr>
          <a:xfrm>
            <a:off x="3657600" y="1234440"/>
            <a:ext cx="5028480" cy="319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200" strike="noStrike" u="none">
                <a:solidFill>
                  <a:srgbClr val="2ecc71"/>
                </a:solidFill>
                <a:effectLst/>
                <a:uFillTx/>
                <a:latin typeface="Trebuchet MS"/>
                <a:ea typeface="Trebuchet MS"/>
              </a:rPr>
              <a:t>style.scss — apenas imports</a:t>
            </a:r>
            <a:endParaRPr b="0" lang="pt-BR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0" name="Shape 9"/>
          <p:cNvSpPr/>
          <p:nvPr/>
        </p:nvSpPr>
        <p:spPr>
          <a:xfrm>
            <a:off x="3657600" y="1600200"/>
            <a:ext cx="5028480" cy="3062520"/>
          </a:xfrm>
          <a:prstGeom prst="rect">
            <a:avLst/>
          </a:prstGeom>
          <a:solidFill>
            <a:srgbClr val="0d1320"/>
          </a:solidFill>
          <a:ln w="12700">
            <a:solidFill>
              <a:srgbClr val="1e3a5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pt-BR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1" name="Text 10"/>
          <p:cNvSpPr/>
          <p:nvPr/>
        </p:nvSpPr>
        <p:spPr>
          <a:xfrm>
            <a:off x="3794760" y="1737360"/>
            <a:ext cx="4754160" cy="2788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50" strike="noStrike" u="none">
                <a:solidFill>
                  <a:srgbClr val="78b9ff"/>
                </a:solidFill>
                <a:effectLst/>
                <a:uFillTx/>
                <a:latin typeface="Courier New"/>
                <a:ea typeface="Courier New"/>
              </a:rPr>
              <a:t>// Variáveis primeiro — os outros dependem</a:t>
            </a:r>
            <a:endParaRPr b="0" lang="pt-BR" sz="10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50" strike="noStrike" u="none">
                <a:solidFill>
                  <a:srgbClr val="78b9ff"/>
                </a:solidFill>
                <a:effectLst/>
                <a:uFillTx/>
                <a:latin typeface="Courier New"/>
                <a:ea typeface="Courier New"/>
              </a:rPr>
              <a:t>@use 'variaveis' as *;</a:t>
            </a:r>
            <a:endParaRPr b="0" lang="pt-BR" sz="10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endParaRPr b="0" lang="pt-BR" sz="10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50" strike="noStrike" u="none">
                <a:solidFill>
                  <a:srgbClr val="78b9ff"/>
                </a:solidFill>
                <a:effectLst/>
                <a:uFillTx/>
                <a:latin typeface="Courier New"/>
                <a:ea typeface="Courier New"/>
              </a:rPr>
              <a:t>// Componentes na ordem do HTML</a:t>
            </a:r>
            <a:endParaRPr b="0" lang="pt-BR" sz="10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50" strike="noStrike" u="none">
                <a:solidFill>
                  <a:srgbClr val="78b9ff"/>
                </a:solidFill>
                <a:effectLst/>
                <a:uFillTx/>
                <a:latin typeface="Courier New"/>
                <a:ea typeface="Courier New"/>
              </a:rPr>
              <a:t>@use 'navbar';</a:t>
            </a:r>
            <a:endParaRPr b="0" lang="pt-BR" sz="10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50" strike="noStrike" u="none">
                <a:solidFill>
                  <a:srgbClr val="78b9ff"/>
                </a:solidFill>
                <a:effectLst/>
                <a:uFillTx/>
                <a:latin typeface="Courier New"/>
                <a:ea typeface="Courier New"/>
              </a:rPr>
              <a:t>@use 'carousel';</a:t>
            </a:r>
            <a:endParaRPr b="0" lang="pt-BR" sz="10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50" strike="noStrike" u="none">
                <a:solidFill>
                  <a:srgbClr val="78b9ff"/>
                </a:solidFill>
                <a:effectLst/>
                <a:uFillTx/>
                <a:latin typeface="Courier New"/>
                <a:ea typeface="Courier New"/>
              </a:rPr>
              <a:t>@use 'cards';</a:t>
            </a:r>
            <a:endParaRPr b="0" lang="pt-BR" sz="10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50" strike="noStrike" u="none">
                <a:solidFill>
                  <a:srgbClr val="78b9ff"/>
                </a:solidFill>
                <a:effectLst/>
                <a:uFillTx/>
                <a:latin typeface="Courier New"/>
                <a:ea typeface="Courier New"/>
              </a:rPr>
              <a:t>@use 'contato';</a:t>
            </a:r>
            <a:endParaRPr b="0" lang="pt-BR" sz="10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endParaRPr b="0" lang="pt-BR" sz="10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50" strike="noStrike" u="none">
                <a:solidFill>
                  <a:srgbClr val="78b9ff"/>
                </a:solidFill>
                <a:effectLst/>
                <a:uFillTx/>
                <a:latin typeface="Courier New"/>
                <a:ea typeface="Courier New"/>
              </a:rPr>
              <a:t>// Estilos globais</a:t>
            </a:r>
            <a:endParaRPr b="0" lang="pt-BR" sz="10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50" strike="noStrike" u="none">
                <a:solidFill>
                  <a:srgbClr val="78b9ff"/>
                </a:solidFill>
                <a:effectLst/>
                <a:uFillTx/>
                <a:latin typeface="Courier New"/>
                <a:ea typeface="Courier New"/>
              </a:rPr>
              <a:t>body { background: var(--ts-fundo); }</a:t>
            </a:r>
            <a:endParaRPr b="0" lang="pt-BR" sz="10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2" name="Shape 11"/>
          <p:cNvSpPr/>
          <p:nvPr/>
        </p:nvSpPr>
        <p:spPr>
          <a:xfrm>
            <a:off x="320040" y="4892040"/>
            <a:ext cx="4205520" cy="360"/>
          </a:xfrm>
          <a:prstGeom prst="rect">
            <a:avLst/>
          </a:prstGeom>
          <a:solidFill>
            <a:srgbClr val="f4f6fa"/>
          </a:solidFill>
          <a:ln w="12700">
            <a:solidFill>
              <a:srgbClr val="2a4a7f"/>
            </a:solidFill>
            <a:round/>
          </a:ln>
          <a:effectLst>
            <a:outerShdw algn="bl" blurRad="101520" dir="8100000" dist="25455" kx="0" ky="0" rotWithShape="0" sx="100000" sy="100000">
              <a:srgbClr val="000000">
                <a:alpha val="20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-44280" bIns="-44280" anchor="t">
            <a:noAutofit/>
          </a:bodyPr>
          <a:p>
            <a:pPr>
              <a:lnSpc>
                <a:spcPct val="100000"/>
              </a:lnSpc>
            </a:pPr>
            <a:endParaRPr b="0" lang="pt-BR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3" name="Shape 12"/>
          <p:cNvSpPr/>
          <p:nvPr/>
        </p:nvSpPr>
        <p:spPr>
          <a:xfrm>
            <a:off x="320040" y="4892040"/>
            <a:ext cx="4205520" cy="136440"/>
          </a:xfrm>
          <a:prstGeom prst="rect">
            <a:avLst/>
          </a:prstGeom>
          <a:solidFill>
            <a:srgbClr val="cc6699"/>
          </a:solidFill>
          <a:ln w="12700">
            <a:solidFill>
              <a:srgbClr val="cc6699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pt-BR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4" name="Shape 13"/>
          <p:cNvSpPr/>
          <p:nvPr/>
        </p:nvSpPr>
        <p:spPr>
          <a:xfrm>
            <a:off x="4754880" y="4892040"/>
            <a:ext cx="4205520" cy="360"/>
          </a:xfrm>
          <a:prstGeom prst="rect">
            <a:avLst/>
          </a:prstGeom>
          <a:solidFill>
            <a:srgbClr val="f4f6fa"/>
          </a:solidFill>
          <a:ln w="12700">
            <a:solidFill>
              <a:srgbClr val="2a4a7f"/>
            </a:solidFill>
            <a:round/>
          </a:ln>
          <a:effectLst>
            <a:outerShdw algn="bl" blurRad="101520" dir="8100000" dist="25455" kx="0" ky="0" rotWithShape="0" sx="100000" sy="100000">
              <a:srgbClr val="000000">
                <a:alpha val="20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-44280" bIns="-44280" anchor="t">
            <a:noAutofit/>
          </a:bodyPr>
          <a:p>
            <a:pPr>
              <a:lnSpc>
                <a:spcPct val="100000"/>
              </a:lnSpc>
            </a:pPr>
            <a:endParaRPr b="0" lang="pt-BR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5" name="Shape 14"/>
          <p:cNvSpPr/>
          <p:nvPr/>
        </p:nvSpPr>
        <p:spPr>
          <a:xfrm>
            <a:off x="4754880" y="4892040"/>
            <a:ext cx="4205520" cy="136440"/>
          </a:xfrm>
          <a:prstGeom prst="rect">
            <a:avLst/>
          </a:prstGeom>
          <a:solidFill>
            <a:srgbClr val="cc6699"/>
          </a:solidFill>
          <a:ln w="12700">
            <a:solidFill>
              <a:srgbClr val="cc6699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pt-BR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6" name="Text 15"/>
          <p:cNvSpPr/>
          <p:nvPr/>
        </p:nvSpPr>
        <p:spPr>
          <a:xfrm>
            <a:off x="8412480" y="4773240"/>
            <a:ext cx="639360" cy="255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00" strike="noStrike" u="none">
                <a:solidFill>
                  <a:srgbClr val="7b9fc4"/>
                </a:solidFill>
                <a:effectLst/>
                <a:uFillTx/>
                <a:latin typeface="Calibri"/>
                <a:ea typeface="Calibri"/>
              </a:rPr>
              <a:t>7 / 14</a:t>
            </a:r>
            <a:endParaRPr b="0" lang="pt-BR" sz="9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Shape 0"/>
          <p:cNvSpPr/>
          <p:nvPr/>
        </p:nvSpPr>
        <p:spPr>
          <a:xfrm>
            <a:off x="0" y="0"/>
            <a:ext cx="54000" cy="5142960"/>
          </a:xfrm>
          <a:prstGeom prst="rect">
            <a:avLst/>
          </a:prstGeom>
          <a:solidFill>
            <a:srgbClr val="cc6699"/>
          </a:solidFill>
          <a:ln w="12700">
            <a:solidFill>
              <a:srgbClr val="cc6699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pt-BR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8" name="Shape 1"/>
          <p:cNvSpPr/>
          <p:nvPr/>
        </p:nvSpPr>
        <p:spPr>
          <a:xfrm>
            <a:off x="320040" y="182880"/>
            <a:ext cx="794880" cy="255240"/>
          </a:xfrm>
          <a:prstGeom prst="rect">
            <a:avLst/>
          </a:prstGeom>
          <a:solidFill>
            <a:srgbClr val="cc6699"/>
          </a:solidFill>
          <a:ln w="12700">
            <a:solidFill>
              <a:srgbClr val="cc6699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pt-BR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9" name="Text 2"/>
          <p:cNvSpPr/>
          <p:nvPr/>
        </p:nvSpPr>
        <p:spPr>
          <a:xfrm>
            <a:off x="320040" y="191880"/>
            <a:ext cx="794880" cy="255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900" strike="noStrike" u="non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MIXINS</a:t>
            </a:r>
            <a:endParaRPr b="0" lang="pt-BR" sz="9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80" name="Text 3"/>
          <p:cNvSpPr/>
          <p:nvPr/>
        </p:nvSpPr>
        <p:spPr>
          <a:xfrm>
            <a:off x="320040" y="457200"/>
            <a:ext cx="8228880" cy="529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400" strike="noStrike" u="none">
                <a:solidFill>
                  <a:srgbClr val="ffffff"/>
                </a:solidFill>
                <a:effectLst/>
                <a:uFillTx/>
                <a:latin typeface="Trebuchet MS"/>
                <a:ea typeface="Trebuchet MS"/>
              </a:rPr>
              <a:t>@mixin — CSS reutilizável com parâmetros</a:t>
            </a:r>
            <a:endParaRPr b="0" lang="pt-BR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81" name="Shape 4"/>
          <p:cNvSpPr/>
          <p:nvPr/>
        </p:nvSpPr>
        <p:spPr>
          <a:xfrm>
            <a:off x="228600" y="1097280"/>
            <a:ext cx="4937040" cy="2559600"/>
          </a:xfrm>
          <a:prstGeom prst="rect">
            <a:avLst/>
          </a:prstGeom>
          <a:solidFill>
            <a:srgbClr val="0d1320"/>
          </a:solidFill>
          <a:ln w="12700">
            <a:solidFill>
              <a:srgbClr val="1e3a5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pt-BR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82" name="Text 5"/>
          <p:cNvSpPr/>
          <p:nvPr/>
        </p:nvSpPr>
        <p:spPr>
          <a:xfrm>
            <a:off x="365760" y="1234440"/>
            <a:ext cx="4662720" cy="2285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50" strike="noStrike" u="none">
                <a:solidFill>
                  <a:srgbClr val="78b9ff"/>
                </a:solidFill>
                <a:effectLst/>
                <a:uFillTx/>
                <a:latin typeface="Courier New"/>
                <a:ea typeface="Courier New"/>
              </a:rPr>
              <a:t>// Definição com @mixin</a:t>
            </a:r>
            <a:endParaRPr b="0" lang="pt-BR" sz="105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50" strike="noStrike" u="none">
                <a:solidFill>
                  <a:srgbClr val="78b9ff"/>
                </a:solidFill>
                <a:effectLst/>
                <a:uFillTx/>
                <a:latin typeface="Courier New"/>
                <a:ea typeface="Courier New"/>
              </a:rPr>
              <a:t>@mixin imagem-ajustada($altura: 220px) {</a:t>
            </a:r>
            <a:endParaRPr b="0" lang="pt-BR" sz="105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50" strike="noStrike" u="none">
                <a:solidFill>
                  <a:srgbClr val="78b9ff"/>
                </a:solidFill>
                <a:effectLst/>
                <a:uFillTx/>
                <a:latin typeface="Courier New"/>
                <a:ea typeface="Courier New"/>
              </a:rPr>
              <a:t>  width: 100%;  height: $altura;</a:t>
            </a:r>
            <a:endParaRPr b="0" lang="pt-BR" sz="105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50" strike="noStrike" u="none">
                <a:solidFill>
                  <a:srgbClr val="78b9ff"/>
                </a:solidFill>
                <a:effectLst/>
                <a:uFillTx/>
                <a:latin typeface="Courier New"/>
                <a:ea typeface="Courier New"/>
              </a:rPr>
              <a:t>  object-fit: cover;  object-position: center;</a:t>
            </a:r>
            <a:endParaRPr b="0" lang="pt-BR" sz="105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50" strike="noStrike" u="none">
                <a:solidFill>
                  <a:srgbClr val="78b9ff"/>
                </a:solidFill>
                <a:effectLst/>
                <a:uFillTx/>
                <a:latin typeface="Courier New"/>
                <a:ea typeface="Courier New"/>
              </a:rPr>
              <a:t>}</a:t>
            </a:r>
            <a:endParaRPr b="0" lang="pt-BR" sz="105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endParaRPr b="0" lang="pt-BR" sz="105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50" strike="noStrike" u="none">
                <a:solidFill>
                  <a:srgbClr val="78b9ff"/>
                </a:solidFill>
                <a:effectLst/>
                <a:uFillTx/>
                <a:latin typeface="Courier New"/>
                <a:ea typeface="Courier New"/>
              </a:rPr>
              <a:t>// Uso com @include</a:t>
            </a:r>
            <a:endParaRPr b="0" lang="pt-BR" sz="105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50" strike="noStrike" u="none">
                <a:solidFill>
                  <a:srgbClr val="78b9ff"/>
                </a:solidFill>
                <a:effectLst/>
                <a:uFillTx/>
                <a:latin typeface="Courier New"/>
                <a:ea typeface="Courier New"/>
              </a:rPr>
              <a:t>.img-produto     { @include imagem-ajustada(220px); }</a:t>
            </a:r>
            <a:endParaRPr b="0" lang="pt-BR" sz="105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50" strike="noStrike" u="none">
                <a:solidFill>
                  <a:srgbClr val="78b9ff"/>
                </a:solidFill>
                <a:effectLst/>
                <a:uFillTx/>
                <a:latin typeface="Courier New"/>
                <a:ea typeface="Courier New"/>
              </a:rPr>
              <a:t>#slider img      { @include imagem-ajustada(500px); }</a:t>
            </a:r>
            <a:endParaRPr b="0" lang="pt-BR" sz="105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83" name="Shape 6"/>
          <p:cNvSpPr/>
          <p:nvPr/>
        </p:nvSpPr>
        <p:spPr>
          <a:xfrm>
            <a:off x="5257800" y="1097280"/>
            <a:ext cx="3656880" cy="2559600"/>
          </a:xfrm>
          <a:prstGeom prst="rect">
            <a:avLst/>
          </a:prstGeom>
          <a:solidFill>
            <a:srgbClr val="162444"/>
          </a:solidFill>
          <a:ln w="12700">
            <a:solidFill>
              <a:srgbClr val="2a4a7f"/>
            </a:solidFill>
            <a:round/>
          </a:ln>
          <a:effectLst>
            <a:outerShdw algn="bl" blurRad="101520" dir="8100000" dist="25455" kx="0" ky="0" rotWithShape="0" sx="100000" sy="100000">
              <a:srgbClr val="000000">
                <a:alpha val="20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pt-BR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84" name="Shape 7"/>
          <p:cNvSpPr/>
          <p:nvPr/>
        </p:nvSpPr>
        <p:spPr>
          <a:xfrm>
            <a:off x="5257800" y="1097280"/>
            <a:ext cx="45000" cy="2559600"/>
          </a:xfrm>
          <a:prstGeom prst="rect">
            <a:avLst/>
          </a:prstGeom>
          <a:solidFill>
            <a:srgbClr val="f4a742"/>
          </a:solidFill>
          <a:ln w="12700">
            <a:solidFill>
              <a:srgbClr val="f4a742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pt-BR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5" name="Text 8"/>
          <p:cNvSpPr/>
          <p:nvPr/>
        </p:nvSpPr>
        <p:spPr>
          <a:xfrm>
            <a:off x="5413320" y="1188720"/>
            <a:ext cx="3336840" cy="346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400" strike="noStrike" u="none">
                <a:solidFill>
                  <a:srgbClr val="f4a742"/>
                </a:solidFill>
                <a:effectLst/>
                <a:uFillTx/>
                <a:latin typeface="Trebuchet MS"/>
                <a:ea typeface="Trebuchet MS"/>
              </a:rPr>
              <a:t>Funções de cor</a:t>
            </a: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86" name="Text 9"/>
          <p:cNvSpPr/>
          <p:nvPr/>
        </p:nvSpPr>
        <p:spPr>
          <a:xfrm>
            <a:off x="5413320" y="1627560"/>
            <a:ext cx="2193840" cy="346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00" strike="noStrike" u="none">
                <a:solidFill>
                  <a:srgbClr val="78b9ff"/>
                </a:solidFill>
                <a:effectLst/>
                <a:uFillTx/>
                <a:latin typeface="Courier New"/>
                <a:ea typeface="Courier New"/>
              </a:rPr>
              <a:t>darken($cor, 10%)</a:t>
            </a:r>
            <a:endParaRPr b="0" lang="pt-BR" sz="10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87" name="Text 10"/>
          <p:cNvSpPr/>
          <p:nvPr/>
        </p:nvSpPr>
        <p:spPr>
          <a:xfrm>
            <a:off x="7607880" y="1627560"/>
            <a:ext cx="1188000" cy="346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00" strike="noStrike" u="none">
                <a:solidFill>
                  <a:srgbClr val="7b9fc4"/>
                </a:solidFill>
                <a:effectLst/>
                <a:uFillTx/>
                <a:latin typeface="Calibri"/>
                <a:ea typeface="Calibri"/>
              </a:rPr>
              <a:t>Escurece a cor</a:t>
            </a:r>
            <a:endParaRPr b="0" lang="pt-BR" sz="10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88" name="Text 11"/>
          <p:cNvSpPr/>
          <p:nvPr/>
        </p:nvSpPr>
        <p:spPr>
          <a:xfrm>
            <a:off x="5413320" y="2084760"/>
            <a:ext cx="2193840" cy="346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00" strike="noStrike" u="none">
                <a:solidFill>
                  <a:srgbClr val="78b9ff"/>
                </a:solidFill>
                <a:effectLst/>
                <a:uFillTx/>
                <a:latin typeface="Courier New"/>
                <a:ea typeface="Courier New"/>
              </a:rPr>
              <a:t>lighten($cor, 20%)</a:t>
            </a:r>
            <a:endParaRPr b="0" lang="pt-BR" sz="10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89" name="Text 12"/>
          <p:cNvSpPr/>
          <p:nvPr/>
        </p:nvSpPr>
        <p:spPr>
          <a:xfrm>
            <a:off x="7607880" y="2084760"/>
            <a:ext cx="1188000" cy="346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00" strike="noStrike" u="none">
                <a:solidFill>
                  <a:srgbClr val="7b9fc4"/>
                </a:solidFill>
                <a:effectLst/>
                <a:uFillTx/>
                <a:latin typeface="Calibri"/>
                <a:ea typeface="Calibri"/>
              </a:rPr>
              <a:t>Clareia a cor</a:t>
            </a:r>
            <a:endParaRPr b="0" lang="pt-BR" sz="10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90" name="Text 13"/>
          <p:cNvSpPr/>
          <p:nvPr/>
        </p:nvSpPr>
        <p:spPr>
          <a:xfrm>
            <a:off x="5413320" y="2541960"/>
            <a:ext cx="2193840" cy="346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00" strike="noStrike" u="none">
                <a:solidFill>
                  <a:srgbClr val="78b9ff"/>
                </a:solidFill>
                <a:effectLst/>
                <a:uFillTx/>
                <a:latin typeface="Courier New"/>
                <a:ea typeface="Courier New"/>
              </a:rPr>
              <a:t>rgba($cor, 0.15)</a:t>
            </a:r>
            <a:endParaRPr b="0" lang="pt-BR" sz="10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91" name="Text 14"/>
          <p:cNvSpPr/>
          <p:nvPr/>
        </p:nvSpPr>
        <p:spPr>
          <a:xfrm>
            <a:off x="7607880" y="2541960"/>
            <a:ext cx="1188000" cy="346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00" strike="noStrike" u="none">
                <a:solidFill>
                  <a:srgbClr val="7b9fc4"/>
                </a:solidFill>
                <a:effectLst/>
                <a:uFillTx/>
                <a:latin typeface="Calibri"/>
                <a:ea typeface="Calibri"/>
              </a:rPr>
              <a:t>Adiciona opacidade</a:t>
            </a:r>
            <a:endParaRPr b="0" lang="pt-BR" sz="10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92" name="Text 15"/>
          <p:cNvSpPr/>
          <p:nvPr/>
        </p:nvSpPr>
        <p:spPr>
          <a:xfrm>
            <a:off x="5413320" y="2999160"/>
            <a:ext cx="2193840" cy="346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00" strike="noStrike" u="none">
                <a:solidFill>
                  <a:srgbClr val="78b9ff"/>
                </a:solidFill>
                <a:effectLst/>
                <a:uFillTx/>
                <a:latin typeface="Courier New"/>
                <a:ea typeface="Courier New"/>
              </a:rPr>
              <a:t>mix($c1, $c2, 30%)</a:t>
            </a:r>
            <a:endParaRPr b="0" lang="pt-BR" sz="10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93" name="Text 16"/>
          <p:cNvSpPr/>
          <p:nvPr/>
        </p:nvSpPr>
        <p:spPr>
          <a:xfrm>
            <a:off x="7607880" y="2999160"/>
            <a:ext cx="1188000" cy="346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00" strike="noStrike" u="none">
                <a:solidFill>
                  <a:srgbClr val="7b9fc4"/>
                </a:solidFill>
                <a:effectLst/>
                <a:uFillTx/>
                <a:latin typeface="Calibri"/>
                <a:ea typeface="Calibri"/>
              </a:rPr>
              <a:t>Mistura duas cores</a:t>
            </a:r>
            <a:endParaRPr b="0" lang="pt-BR" sz="10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94" name="Shape 17"/>
          <p:cNvSpPr/>
          <p:nvPr/>
        </p:nvSpPr>
        <p:spPr>
          <a:xfrm>
            <a:off x="228600" y="3749040"/>
            <a:ext cx="8686080" cy="1169640"/>
          </a:xfrm>
          <a:prstGeom prst="rect">
            <a:avLst/>
          </a:prstGeom>
          <a:solidFill>
            <a:srgbClr val="1b3a6b"/>
          </a:solidFill>
          <a:ln w="12700">
            <a:solidFill>
              <a:srgbClr val="2a4a7f"/>
            </a:solidFill>
            <a:round/>
          </a:ln>
          <a:effectLst>
            <a:outerShdw algn="bl" blurRad="101520" dir="8100000" dist="25455" kx="0" ky="0" rotWithShape="0" sx="100000" sy="100000">
              <a:srgbClr val="000000">
                <a:alpha val="20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pt-BR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95" name="Text 18"/>
          <p:cNvSpPr/>
          <p:nvPr/>
        </p:nvSpPr>
        <p:spPr>
          <a:xfrm>
            <a:off x="411480" y="3822120"/>
            <a:ext cx="3656880" cy="346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300" strike="noStrike" u="none">
                <a:solidFill>
                  <a:srgbClr val="ffffff"/>
                </a:solidFill>
                <a:effectLst/>
                <a:uFillTx/>
                <a:latin typeface="Trebuchet MS"/>
                <a:ea typeface="Trebuchet MS"/>
              </a:rPr>
              <a:t>@extend e %placeholder  —  herança de regras</a:t>
            </a:r>
            <a:endParaRPr b="0" lang="pt-BR" sz="13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96" name="Shape 19"/>
          <p:cNvSpPr/>
          <p:nvPr/>
        </p:nvSpPr>
        <p:spPr>
          <a:xfrm>
            <a:off x="3886200" y="3822120"/>
            <a:ext cx="4891320" cy="986760"/>
          </a:xfrm>
          <a:prstGeom prst="rect">
            <a:avLst/>
          </a:prstGeom>
          <a:solidFill>
            <a:srgbClr val="0d1320"/>
          </a:solidFill>
          <a:ln w="12700">
            <a:solidFill>
              <a:srgbClr val="1e3a5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pt-BR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97" name="Text 20"/>
          <p:cNvSpPr/>
          <p:nvPr/>
        </p:nvSpPr>
        <p:spPr>
          <a:xfrm>
            <a:off x="4023360" y="3959280"/>
            <a:ext cx="4617000" cy="712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50" strike="noStrike" u="none">
                <a:solidFill>
                  <a:srgbClr val="78b9ff"/>
                </a:solidFill>
                <a:effectLst/>
                <a:uFillTx/>
                <a:latin typeface="Courier New"/>
                <a:ea typeface="Courier New"/>
              </a:rPr>
              <a:t>%card-hover { transition: box-shadow 0.2s; &amp;:hover { box-shadow: 0 8px 24px rgba(0,0,0,.15); } }</a:t>
            </a:r>
            <a:endParaRPr b="0" lang="pt-BR" sz="105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50" strike="noStrike" u="none">
                <a:solidFill>
                  <a:srgbClr val="78b9ff"/>
                </a:solidFill>
                <a:effectLst/>
                <a:uFillTx/>
                <a:latin typeface="Courier New"/>
                <a:ea typeface="Courier New"/>
              </a:rPr>
              <a:t>.card { @extend %card-hover; }   .card-produto { @extend %card-hover; padding: 1.5rem; }</a:t>
            </a:r>
            <a:endParaRPr b="0" lang="pt-BR" sz="105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98" name="Text 21"/>
          <p:cNvSpPr/>
          <p:nvPr/>
        </p:nvSpPr>
        <p:spPr>
          <a:xfrm>
            <a:off x="8412480" y="4773240"/>
            <a:ext cx="639360" cy="255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00" strike="noStrike" u="none">
                <a:solidFill>
                  <a:srgbClr val="7b9fc4"/>
                </a:solidFill>
                <a:effectLst/>
                <a:uFillTx/>
                <a:latin typeface="Calibri"/>
                <a:ea typeface="Calibri"/>
              </a:rPr>
              <a:t>8 / 14</a:t>
            </a:r>
            <a:endParaRPr b="0" lang="pt-BR" sz="9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4f6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Shape 0"/>
          <p:cNvSpPr/>
          <p:nvPr/>
        </p:nvSpPr>
        <p:spPr>
          <a:xfrm>
            <a:off x="320040" y="164520"/>
            <a:ext cx="1750320" cy="255240"/>
          </a:xfrm>
          <a:prstGeom prst="rect">
            <a:avLst/>
          </a:prstGeom>
          <a:solidFill>
            <a:srgbClr val="cc6699"/>
          </a:solidFill>
          <a:ln w="12700">
            <a:solidFill>
              <a:srgbClr val="cc6699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pt-BR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00" name="Text 1"/>
          <p:cNvSpPr/>
          <p:nvPr/>
        </p:nvSpPr>
        <p:spPr>
          <a:xfrm>
            <a:off x="320040" y="173880"/>
            <a:ext cx="1750320" cy="255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900" strike="noStrike" u="non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CUSTOM PROPERTIES</a:t>
            </a:r>
            <a:endParaRPr b="0" lang="pt-BR" sz="9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101" name="Image 0" descr="preencoded.png"/>
          <p:cNvPicPr/>
          <p:nvPr/>
        </p:nvPicPr>
        <p:blipFill>
          <a:blip r:embed="rId1"/>
          <a:stretch/>
        </p:blipFill>
        <p:spPr>
          <a:xfrm>
            <a:off x="8229600" y="274320"/>
            <a:ext cx="822240" cy="8222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02" name="Text 2"/>
          <p:cNvSpPr/>
          <p:nvPr/>
        </p:nvSpPr>
        <p:spPr>
          <a:xfrm>
            <a:off x="320040" y="502920"/>
            <a:ext cx="7771680" cy="502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400" strike="noStrike" u="none">
                <a:solidFill>
                  <a:srgbClr val="0d1b2a"/>
                </a:solidFill>
                <a:effectLst/>
                <a:uFillTx/>
                <a:latin typeface="Trebuchet MS"/>
                <a:ea typeface="Trebuchet MS"/>
              </a:rPr>
              <a:t>--variavel: valores que vivem em runtime</a:t>
            </a:r>
            <a:endParaRPr b="0" lang="pt-BR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3" name="Shape 3"/>
          <p:cNvSpPr/>
          <p:nvPr/>
        </p:nvSpPr>
        <p:spPr>
          <a:xfrm>
            <a:off x="320040" y="1143000"/>
            <a:ext cx="8503200" cy="1416600"/>
          </a:xfrm>
          <a:prstGeom prst="rect">
            <a:avLst/>
          </a:prstGeom>
          <a:solidFill>
            <a:srgbClr val="0d1320"/>
          </a:solidFill>
          <a:ln w="12700">
            <a:solidFill>
              <a:srgbClr val="1e3a5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pt-BR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04" name="Text 4"/>
          <p:cNvSpPr/>
          <p:nvPr/>
        </p:nvSpPr>
        <p:spPr>
          <a:xfrm>
            <a:off x="457200" y="1280160"/>
            <a:ext cx="8228880" cy="1142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50" strike="noStrike" u="none">
                <a:solidFill>
                  <a:srgbClr val="78b9ff"/>
                </a:solidFill>
                <a:effectLst/>
                <a:uFillTx/>
                <a:latin typeface="Courier New"/>
                <a:ea typeface="Courier New"/>
              </a:rPr>
              <a:t>:root {                               [data-tema='dark'] {</a:t>
            </a:r>
            <a:endParaRPr b="0" lang="pt-BR" sz="10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50" strike="noStrike" u="none">
                <a:solidFill>
                  <a:srgbClr val="78b9ff"/>
                </a:solidFill>
                <a:effectLst/>
                <a:uFillTx/>
                <a:latin typeface="Courier New"/>
                <a:ea typeface="Courier New"/>
              </a:rPr>
              <a:t>  --ts-fundo:   #ffffff;               --ts-fundo:   #1a1a2e;</a:t>
            </a:r>
            <a:endParaRPr b="0" lang="pt-BR" sz="10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50" strike="noStrike" u="none">
                <a:solidFill>
                  <a:srgbClr val="78b9ff"/>
                </a:solidFill>
                <a:effectLst/>
                <a:uFillTx/>
                <a:latin typeface="Courier New"/>
                <a:ea typeface="Courier New"/>
              </a:rPr>
              <a:t>  --ts-texto:   #212529;               --ts-texto:   #e0e0e0;</a:t>
            </a:r>
            <a:endParaRPr b="0" lang="pt-BR" sz="10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50" strike="noStrike" u="none">
                <a:solidFill>
                  <a:srgbClr val="78b9ff"/>
                </a:solidFill>
                <a:effectLst/>
                <a:uFillTx/>
                <a:latin typeface="Courier New"/>
                <a:ea typeface="Courier New"/>
              </a:rPr>
              <a:t>  --ts-primaria: #0d6efd;              --ts-primaria: #5fa8ff;</a:t>
            </a:r>
            <a:endParaRPr b="0" lang="pt-BR" sz="10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50" strike="noStrike" u="none">
                <a:solidFill>
                  <a:srgbClr val="78b9ff"/>
                </a:solidFill>
                <a:effectLst/>
                <a:uFillTx/>
                <a:latin typeface="Courier New"/>
                <a:ea typeface="Courier New"/>
              </a:rPr>
              <a:t>}                                    }</a:t>
            </a:r>
            <a:endParaRPr b="0" lang="pt-BR" sz="10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5" name="Shape 5"/>
          <p:cNvSpPr/>
          <p:nvPr/>
        </p:nvSpPr>
        <p:spPr>
          <a:xfrm>
            <a:off x="320040" y="2651760"/>
            <a:ext cx="8503200" cy="1050840"/>
          </a:xfrm>
          <a:prstGeom prst="rect">
            <a:avLst/>
          </a:prstGeom>
          <a:solidFill>
            <a:srgbClr val="0d1320"/>
          </a:solidFill>
          <a:ln w="12700">
            <a:solidFill>
              <a:srgbClr val="1e3a5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pt-BR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06" name="Text 6"/>
          <p:cNvSpPr/>
          <p:nvPr/>
        </p:nvSpPr>
        <p:spPr>
          <a:xfrm>
            <a:off x="457200" y="2788920"/>
            <a:ext cx="8228880" cy="776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50" strike="noStrike" u="none">
                <a:solidFill>
                  <a:srgbClr val="78b9ff"/>
                </a:solidFill>
                <a:effectLst/>
                <a:uFillTx/>
                <a:latin typeface="Courier New"/>
                <a:ea typeface="Courier New"/>
              </a:rPr>
              <a:t>// Componentes usam var() — nunca cores fixas</a:t>
            </a:r>
            <a:endParaRPr b="0" lang="pt-BR" sz="10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50" strike="noStrike" u="none">
                <a:solidFill>
                  <a:srgbClr val="78b9ff"/>
                </a:solidFill>
                <a:effectLst/>
                <a:uFillTx/>
                <a:latin typeface="Courier New"/>
                <a:ea typeface="Courier New"/>
              </a:rPr>
              <a:t>body  { background: var(--ts-fundo);  color: var(--ts-texto); }</a:t>
            </a:r>
            <a:endParaRPr b="0" lang="pt-BR" sz="10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50" strike="noStrike" u="none">
                <a:solidFill>
                  <a:srgbClr val="78b9ff"/>
                </a:solidFill>
                <a:effectLst/>
                <a:uFillTx/>
                <a:latin typeface="Courier New"/>
                <a:ea typeface="Courier New"/>
              </a:rPr>
              <a:t>.card { box-shadow: var(--ts-card-sombra); }</a:t>
            </a:r>
            <a:endParaRPr b="0" lang="pt-BR" sz="10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7" name="Shape 7"/>
          <p:cNvSpPr/>
          <p:nvPr/>
        </p:nvSpPr>
        <p:spPr>
          <a:xfrm>
            <a:off x="320040" y="3794760"/>
            <a:ext cx="8503200" cy="1142280"/>
          </a:xfrm>
          <a:prstGeom prst="rect">
            <a:avLst/>
          </a:prstGeom>
          <a:solidFill>
            <a:srgbClr val="0d1b2a"/>
          </a:solidFill>
          <a:ln w="12700">
            <a:solidFill>
              <a:srgbClr val="2a4a7f"/>
            </a:solidFill>
            <a:round/>
          </a:ln>
          <a:effectLst>
            <a:outerShdw algn="bl" blurRad="101520" dir="8100000" dist="25455" kx="0" ky="0" rotWithShape="0" sx="100000" sy="100000">
              <a:srgbClr val="000000">
                <a:alpha val="20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pt-BR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08" name="Text 8"/>
          <p:cNvSpPr/>
          <p:nvPr/>
        </p:nvSpPr>
        <p:spPr>
          <a:xfrm>
            <a:off x="502920" y="3858840"/>
            <a:ext cx="5028480" cy="346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300" strike="noStrike" u="none">
                <a:solidFill>
                  <a:srgbClr val="ffffff"/>
                </a:solidFill>
                <a:effectLst/>
                <a:uFillTx/>
                <a:latin typeface="Trebuchet MS"/>
                <a:ea typeface="Trebuchet MS"/>
              </a:rPr>
              <a:t>Troca de tema com JavaScript — uma linha:</a:t>
            </a:r>
            <a:endParaRPr b="0" lang="pt-BR" sz="13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9" name="Shape 9"/>
          <p:cNvSpPr/>
          <p:nvPr/>
        </p:nvSpPr>
        <p:spPr>
          <a:xfrm>
            <a:off x="502920" y="4224600"/>
            <a:ext cx="8228880" cy="593640"/>
          </a:xfrm>
          <a:prstGeom prst="rect">
            <a:avLst/>
          </a:prstGeom>
          <a:solidFill>
            <a:srgbClr val="0d1320"/>
          </a:solidFill>
          <a:ln w="12700">
            <a:solidFill>
              <a:srgbClr val="1e3a5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pt-BR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10" name="Text 10"/>
          <p:cNvSpPr/>
          <p:nvPr/>
        </p:nvSpPr>
        <p:spPr>
          <a:xfrm>
            <a:off x="640080" y="4361760"/>
            <a:ext cx="7954560" cy="319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50" strike="noStrike" u="none">
                <a:solidFill>
                  <a:srgbClr val="78b9ff"/>
                </a:solidFill>
                <a:effectLst/>
                <a:uFillTx/>
                <a:latin typeface="Courier New"/>
                <a:ea typeface="Courier New"/>
              </a:rPr>
              <a:t>document.documentElement.setAttribute('data-tema', novoTema);  // CSS re-avalia tudo instantaneamente</a:t>
            </a:r>
            <a:endParaRPr b="0" lang="pt-BR" sz="10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1" name="Text 11"/>
          <p:cNvSpPr/>
          <p:nvPr/>
        </p:nvSpPr>
        <p:spPr>
          <a:xfrm>
            <a:off x="8412480" y="4773240"/>
            <a:ext cx="639360" cy="255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00" strike="noStrike" u="none">
                <a:solidFill>
                  <a:srgbClr val="7b9fc4"/>
                </a:solidFill>
                <a:effectLst/>
                <a:uFillTx/>
                <a:latin typeface="Calibri"/>
                <a:ea typeface="Calibri"/>
              </a:rPr>
              <a:t>9 / 14</a:t>
            </a:r>
            <a:endParaRPr b="0" lang="pt-BR" sz="9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Shape 0"/>
          <p:cNvSpPr/>
          <p:nvPr/>
        </p:nvSpPr>
        <p:spPr>
          <a:xfrm>
            <a:off x="0" y="0"/>
            <a:ext cx="54000" cy="5142960"/>
          </a:xfrm>
          <a:prstGeom prst="rect">
            <a:avLst/>
          </a:prstGeom>
          <a:solidFill>
            <a:srgbClr val="f4a742"/>
          </a:solidFill>
          <a:ln w="12700">
            <a:solidFill>
              <a:srgbClr val="f4a742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pt-BR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3" name="Shape 1"/>
          <p:cNvSpPr/>
          <p:nvPr/>
        </p:nvSpPr>
        <p:spPr>
          <a:xfrm>
            <a:off x="320040" y="182880"/>
            <a:ext cx="1576800" cy="255240"/>
          </a:xfrm>
          <a:prstGeom prst="rect">
            <a:avLst/>
          </a:prstGeom>
          <a:solidFill>
            <a:srgbClr val="cc6699"/>
          </a:solidFill>
          <a:ln w="12700">
            <a:solidFill>
              <a:srgbClr val="cc6699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pt-BR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14" name="Text 2"/>
          <p:cNvSpPr/>
          <p:nvPr/>
        </p:nvSpPr>
        <p:spPr>
          <a:xfrm>
            <a:off x="320040" y="191880"/>
            <a:ext cx="1576800" cy="255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900" strike="noStrike" u="non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TEMAS MÚLTIPLOS</a:t>
            </a:r>
            <a:endParaRPr b="0" lang="pt-BR" sz="9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115" name="Image 0" descr="preencoded.png"/>
          <p:cNvPicPr/>
          <p:nvPr/>
        </p:nvPicPr>
        <p:blipFill>
          <a:blip r:embed="rId1"/>
          <a:stretch/>
        </p:blipFill>
        <p:spPr>
          <a:xfrm>
            <a:off x="8046720" y="274320"/>
            <a:ext cx="913680" cy="9136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16" name="Text 3"/>
          <p:cNvSpPr/>
          <p:nvPr/>
        </p:nvSpPr>
        <p:spPr>
          <a:xfrm>
            <a:off x="320040" y="457200"/>
            <a:ext cx="7497360" cy="529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600" strike="noStrike" u="none">
                <a:solidFill>
                  <a:srgbClr val="ffffff"/>
                </a:solidFill>
                <a:effectLst/>
                <a:uFillTx/>
                <a:latin typeface="Trebuchet MS"/>
                <a:ea typeface="Trebuchet MS"/>
              </a:rPr>
              <a:t>4 temas em runtime — zero CSS extra</a:t>
            </a:r>
            <a:endParaRPr b="0" lang="pt-BR" sz="26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17" name="Shape 4"/>
          <p:cNvSpPr/>
          <p:nvPr/>
        </p:nvSpPr>
        <p:spPr>
          <a:xfrm>
            <a:off x="274320" y="1188720"/>
            <a:ext cx="1965240" cy="2559600"/>
          </a:xfrm>
          <a:prstGeom prst="rect">
            <a:avLst/>
          </a:prstGeom>
          <a:solidFill>
            <a:srgbClr val="f8f9fa"/>
          </a:solidFill>
          <a:ln w="12700">
            <a:solidFill>
              <a:srgbClr val="dee2e6"/>
            </a:solidFill>
            <a:round/>
          </a:ln>
          <a:effectLst>
            <a:outerShdw algn="bl" blurRad="76320" dir="8100000" dist="25455" kx="0" ky="0" rotWithShape="0" sx="100000" sy="100000">
              <a:srgbClr val="000000">
                <a:alpha val="20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pt-BR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8" name="Shape 5"/>
          <p:cNvSpPr/>
          <p:nvPr/>
        </p:nvSpPr>
        <p:spPr>
          <a:xfrm>
            <a:off x="274320" y="1188720"/>
            <a:ext cx="1965240" cy="383400"/>
          </a:xfrm>
          <a:prstGeom prst="rect">
            <a:avLst/>
          </a:prstGeom>
          <a:solidFill>
            <a:srgbClr val="7b9fc4"/>
          </a:solidFill>
          <a:ln w="12700">
            <a:solidFill>
              <a:srgbClr val="7b9fc4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pt-BR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19" name="Text 6"/>
          <p:cNvSpPr/>
          <p:nvPr/>
        </p:nvSpPr>
        <p:spPr>
          <a:xfrm>
            <a:off x="274320" y="1188720"/>
            <a:ext cx="1965240" cy="383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600" strike="noStrike" u="none">
                <a:solidFill>
                  <a:srgbClr val="ffffff"/>
                </a:solidFill>
                <a:effectLst/>
                <a:uFillTx/>
                <a:latin typeface="Trebuchet MS"/>
                <a:ea typeface="Trebuchet MS"/>
              </a:rPr>
              <a:t>Light</a:t>
            </a:r>
            <a:endParaRPr b="0" lang="pt-BR" sz="16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20" name="Text 7"/>
          <p:cNvSpPr/>
          <p:nvPr/>
        </p:nvSpPr>
        <p:spPr>
          <a:xfrm>
            <a:off x="365760" y="1691640"/>
            <a:ext cx="1736640" cy="346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50" strike="noStrike" u="none">
                <a:solidFill>
                  <a:srgbClr val="555555"/>
                </a:solidFill>
                <a:effectLst/>
                <a:uFillTx/>
                <a:latin typeface="Courier New"/>
                <a:ea typeface="Courier New"/>
              </a:rPr>
              <a:t>[data-tema="light"]</a:t>
            </a:r>
            <a:endParaRPr b="0" lang="pt-BR" sz="95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21" name="Text 8"/>
          <p:cNvSpPr/>
          <p:nvPr/>
        </p:nvSpPr>
        <p:spPr>
          <a:xfrm>
            <a:off x="365760" y="2121480"/>
            <a:ext cx="1736640" cy="319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00" strike="noStrike" u="none">
                <a:solidFill>
                  <a:srgbClr val="444444"/>
                </a:solidFill>
                <a:effectLst/>
                <a:uFillTx/>
                <a:latin typeface="Courier New"/>
                <a:ea typeface="Courier New"/>
              </a:rPr>
              <a:t>--ts-fundo</a:t>
            </a:r>
            <a:endParaRPr b="0" lang="pt-BR" sz="9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22" name="Text 9"/>
          <p:cNvSpPr/>
          <p:nvPr/>
        </p:nvSpPr>
        <p:spPr>
          <a:xfrm>
            <a:off x="365760" y="2505600"/>
            <a:ext cx="1736640" cy="319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00" strike="noStrike" u="none">
                <a:solidFill>
                  <a:srgbClr val="444444"/>
                </a:solidFill>
                <a:effectLst/>
                <a:uFillTx/>
                <a:latin typeface="Courier New"/>
                <a:ea typeface="Courier New"/>
              </a:rPr>
              <a:t>--ts-texto</a:t>
            </a:r>
            <a:endParaRPr b="0" lang="pt-BR" sz="9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23" name="Text 10"/>
          <p:cNvSpPr/>
          <p:nvPr/>
        </p:nvSpPr>
        <p:spPr>
          <a:xfrm>
            <a:off x="365760" y="2889360"/>
            <a:ext cx="1736640" cy="319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00" strike="noStrike" u="none">
                <a:solidFill>
                  <a:srgbClr val="444444"/>
                </a:solidFill>
                <a:effectLst/>
                <a:uFillTx/>
                <a:latin typeface="Courier New"/>
                <a:ea typeface="Courier New"/>
              </a:rPr>
              <a:t>--ts-primaria</a:t>
            </a:r>
            <a:endParaRPr b="0" lang="pt-BR" sz="9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24" name="Shape 11"/>
          <p:cNvSpPr/>
          <p:nvPr/>
        </p:nvSpPr>
        <p:spPr>
          <a:xfrm>
            <a:off x="2450520" y="1188720"/>
            <a:ext cx="1965240" cy="2559600"/>
          </a:xfrm>
          <a:prstGeom prst="rect">
            <a:avLst/>
          </a:prstGeom>
          <a:solidFill>
            <a:srgbClr val="1a1a2e"/>
          </a:solidFill>
          <a:ln w="12700">
            <a:solidFill>
              <a:srgbClr val="2a4a7f"/>
            </a:solidFill>
            <a:round/>
          </a:ln>
          <a:effectLst>
            <a:outerShdw algn="bl" blurRad="76320" dir="8100000" dist="25455" kx="0" ky="0" rotWithShape="0" sx="100000" sy="100000">
              <a:srgbClr val="000000">
                <a:alpha val="20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pt-BR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25" name="Shape 12"/>
          <p:cNvSpPr/>
          <p:nvPr/>
        </p:nvSpPr>
        <p:spPr>
          <a:xfrm>
            <a:off x="2450520" y="1188720"/>
            <a:ext cx="1965240" cy="383400"/>
          </a:xfrm>
          <a:prstGeom prst="rect">
            <a:avLst/>
          </a:prstGeom>
          <a:solidFill>
            <a:srgbClr val="5fa8ff"/>
          </a:solidFill>
          <a:ln w="12700">
            <a:solidFill>
              <a:srgbClr val="5fa8f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pt-BR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6" name="Text 13"/>
          <p:cNvSpPr/>
          <p:nvPr/>
        </p:nvSpPr>
        <p:spPr>
          <a:xfrm>
            <a:off x="2450520" y="1188720"/>
            <a:ext cx="1965240" cy="383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600" strike="noStrike" u="none">
                <a:solidFill>
                  <a:srgbClr val="ffffff"/>
                </a:solidFill>
                <a:effectLst/>
                <a:uFillTx/>
                <a:latin typeface="Trebuchet MS"/>
                <a:ea typeface="Trebuchet MS"/>
              </a:rPr>
              <a:t>Dark</a:t>
            </a:r>
            <a:endParaRPr b="0" lang="pt-BR" sz="16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27" name="Text 14"/>
          <p:cNvSpPr/>
          <p:nvPr/>
        </p:nvSpPr>
        <p:spPr>
          <a:xfrm>
            <a:off x="2541960" y="1691640"/>
            <a:ext cx="1736640" cy="346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50" strike="noStrike" u="none">
                <a:solidFill>
                  <a:srgbClr val="5fa8ff"/>
                </a:solidFill>
                <a:effectLst/>
                <a:uFillTx/>
                <a:latin typeface="Courier New"/>
                <a:ea typeface="Courier New"/>
              </a:rPr>
              <a:t>[data-tema="dark"]</a:t>
            </a:r>
            <a:endParaRPr b="0" lang="pt-BR" sz="95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28" name="Text 15"/>
          <p:cNvSpPr/>
          <p:nvPr/>
        </p:nvSpPr>
        <p:spPr>
          <a:xfrm>
            <a:off x="2541960" y="2121480"/>
            <a:ext cx="1736640" cy="319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00" strike="noStrike" u="none">
                <a:solidFill>
                  <a:srgbClr val="666666"/>
                </a:solidFill>
                <a:effectLst/>
                <a:uFillTx/>
                <a:latin typeface="Courier New"/>
                <a:ea typeface="Courier New"/>
              </a:rPr>
              <a:t>--ts-fundo</a:t>
            </a:r>
            <a:endParaRPr b="0" lang="pt-BR" sz="9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29" name="Text 16"/>
          <p:cNvSpPr/>
          <p:nvPr/>
        </p:nvSpPr>
        <p:spPr>
          <a:xfrm>
            <a:off x="2541960" y="2505600"/>
            <a:ext cx="1736640" cy="319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00" strike="noStrike" u="none">
                <a:solidFill>
                  <a:srgbClr val="666666"/>
                </a:solidFill>
                <a:effectLst/>
                <a:uFillTx/>
                <a:latin typeface="Courier New"/>
                <a:ea typeface="Courier New"/>
              </a:rPr>
              <a:t>--ts-texto</a:t>
            </a:r>
            <a:endParaRPr b="0" lang="pt-BR" sz="9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30" name="Text 17"/>
          <p:cNvSpPr/>
          <p:nvPr/>
        </p:nvSpPr>
        <p:spPr>
          <a:xfrm>
            <a:off x="2541960" y="2889360"/>
            <a:ext cx="1736640" cy="319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00" strike="noStrike" u="none">
                <a:solidFill>
                  <a:srgbClr val="666666"/>
                </a:solidFill>
                <a:effectLst/>
                <a:uFillTx/>
                <a:latin typeface="Courier New"/>
                <a:ea typeface="Courier New"/>
              </a:rPr>
              <a:t>--ts-primaria</a:t>
            </a:r>
            <a:endParaRPr b="0" lang="pt-BR" sz="9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31" name="Shape 18"/>
          <p:cNvSpPr/>
          <p:nvPr/>
        </p:nvSpPr>
        <p:spPr>
          <a:xfrm>
            <a:off x="4626720" y="1188720"/>
            <a:ext cx="1965240" cy="2559600"/>
          </a:xfrm>
          <a:prstGeom prst="rect">
            <a:avLst/>
          </a:prstGeom>
          <a:solidFill>
            <a:srgbClr val="f0faf4"/>
          </a:solidFill>
          <a:ln w="12700">
            <a:solidFill>
              <a:srgbClr val="a3cfbb"/>
            </a:solidFill>
            <a:round/>
          </a:ln>
          <a:effectLst>
            <a:outerShdw algn="bl" blurRad="76320" dir="8100000" dist="25455" kx="0" ky="0" rotWithShape="0" sx="100000" sy="100000">
              <a:srgbClr val="000000">
                <a:alpha val="20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pt-BR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2" name="Shape 19"/>
          <p:cNvSpPr/>
          <p:nvPr/>
        </p:nvSpPr>
        <p:spPr>
          <a:xfrm>
            <a:off x="4626720" y="1188720"/>
            <a:ext cx="1965240" cy="383400"/>
          </a:xfrm>
          <a:prstGeom prst="rect">
            <a:avLst/>
          </a:prstGeom>
          <a:solidFill>
            <a:srgbClr val="198754"/>
          </a:solidFill>
          <a:ln w="12700">
            <a:solidFill>
              <a:srgbClr val="198754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pt-BR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33" name="Text 20"/>
          <p:cNvSpPr/>
          <p:nvPr/>
        </p:nvSpPr>
        <p:spPr>
          <a:xfrm>
            <a:off x="4626720" y="1188720"/>
            <a:ext cx="1965240" cy="383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600" strike="noStrike" u="none">
                <a:solidFill>
                  <a:srgbClr val="ffffff"/>
                </a:solidFill>
                <a:effectLst/>
                <a:uFillTx/>
                <a:latin typeface="Trebuchet MS"/>
                <a:ea typeface="Trebuchet MS"/>
              </a:rPr>
              <a:t>Verde</a:t>
            </a:r>
            <a:endParaRPr b="0" lang="pt-BR" sz="16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34" name="Text 21"/>
          <p:cNvSpPr/>
          <p:nvPr/>
        </p:nvSpPr>
        <p:spPr>
          <a:xfrm>
            <a:off x="4718160" y="1691640"/>
            <a:ext cx="1736640" cy="346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50" strike="noStrike" u="none">
                <a:solidFill>
                  <a:srgbClr val="198754"/>
                </a:solidFill>
                <a:effectLst/>
                <a:uFillTx/>
                <a:latin typeface="Courier New"/>
                <a:ea typeface="Courier New"/>
              </a:rPr>
              <a:t>[data-tema="verde"]</a:t>
            </a:r>
            <a:endParaRPr b="0" lang="pt-BR" sz="95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35" name="Text 22"/>
          <p:cNvSpPr/>
          <p:nvPr/>
        </p:nvSpPr>
        <p:spPr>
          <a:xfrm>
            <a:off x="4718160" y="2121480"/>
            <a:ext cx="1736640" cy="319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00" strike="noStrike" u="none">
                <a:solidFill>
                  <a:srgbClr val="666666"/>
                </a:solidFill>
                <a:effectLst/>
                <a:uFillTx/>
                <a:latin typeface="Courier New"/>
                <a:ea typeface="Courier New"/>
              </a:rPr>
              <a:t>--ts-fundo</a:t>
            </a:r>
            <a:endParaRPr b="0" lang="pt-BR" sz="9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36" name="Text 23"/>
          <p:cNvSpPr/>
          <p:nvPr/>
        </p:nvSpPr>
        <p:spPr>
          <a:xfrm>
            <a:off x="4718160" y="2505600"/>
            <a:ext cx="1736640" cy="319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00" strike="noStrike" u="none">
                <a:solidFill>
                  <a:srgbClr val="666666"/>
                </a:solidFill>
                <a:effectLst/>
                <a:uFillTx/>
                <a:latin typeface="Courier New"/>
                <a:ea typeface="Courier New"/>
              </a:rPr>
              <a:t>--ts-texto</a:t>
            </a:r>
            <a:endParaRPr b="0" lang="pt-BR" sz="9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37" name="Text 24"/>
          <p:cNvSpPr/>
          <p:nvPr/>
        </p:nvSpPr>
        <p:spPr>
          <a:xfrm>
            <a:off x="4718160" y="2889360"/>
            <a:ext cx="1736640" cy="319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00" strike="noStrike" u="none">
                <a:solidFill>
                  <a:srgbClr val="666666"/>
                </a:solidFill>
                <a:effectLst/>
                <a:uFillTx/>
                <a:latin typeface="Courier New"/>
                <a:ea typeface="Courier New"/>
              </a:rPr>
              <a:t>--ts-primaria</a:t>
            </a:r>
            <a:endParaRPr b="0" lang="pt-BR" sz="9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38" name="Shape 25"/>
          <p:cNvSpPr/>
          <p:nvPr/>
        </p:nvSpPr>
        <p:spPr>
          <a:xfrm>
            <a:off x="6803280" y="1188720"/>
            <a:ext cx="1965240" cy="2559600"/>
          </a:xfrm>
          <a:prstGeom prst="rect">
            <a:avLst/>
          </a:prstGeom>
          <a:solidFill>
            <a:srgbClr val="f5f0ff"/>
          </a:solidFill>
          <a:ln w="12700">
            <a:solidFill>
              <a:srgbClr val="c9b8e8"/>
            </a:solidFill>
            <a:round/>
          </a:ln>
          <a:effectLst>
            <a:outerShdw algn="bl" blurRad="76320" dir="8100000" dist="25455" kx="0" ky="0" rotWithShape="0" sx="100000" sy="100000">
              <a:srgbClr val="000000">
                <a:alpha val="20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pt-BR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9" name="Shape 26"/>
          <p:cNvSpPr/>
          <p:nvPr/>
        </p:nvSpPr>
        <p:spPr>
          <a:xfrm>
            <a:off x="6803280" y="1188720"/>
            <a:ext cx="1965240" cy="383400"/>
          </a:xfrm>
          <a:prstGeom prst="rect">
            <a:avLst/>
          </a:prstGeom>
          <a:solidFill>
            <a:srgbClr val="6f42c1"/>
          </a:solidFill>
          <a:ln w="12700">
            <a:solidFill>
              <a:srgbClr val="6f42c1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pt-BR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40" name="Text 27"/>
          <p:cNvSpPr/>
          <p:nvPr/>
        </p:nvSpPr>
        <p:spPr>
          <a:xfrm>
            <a:off x="6803280" y="1188720"/>
            <a:ext cx="1965240" cy="383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600" strike="noStrike" u="none">
                <a:solidFill>
                  <a:srgbClr val="ffffff"/>
                </a:solidFill>
                <a:effectLst/>
                <a:uFillTx/>
                <a:latin typeface="Trebuchet MS"/>
                <a:ea typeface="Trebuchet MS"/>
              </a:rPr>
              <a:t>Roxo</a:t>
            </a:r>
            <a:endParaRPr b="0" lang="pt-BR" sz="16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41" name="Text 28"/>
          <p:cNvSpPr/>
          <p:nvPr/>
        </p:nvSpPr>
        <p:spPr>
          <a:xfrm>
            <a:off x="6894720" y="1691640"/>
            <a:ext cx="1736640" cy="346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50" strike="noStrike" u="none">
                <a:solidFill>
                  <a:srgbClr val="6f42c1"/>
                </a:solidFill>
                <a:effectLst/>
                <a:uFillTx/>
                <a:latin typeface="Courier New"/>
                <a:ea typeface="Courier New"/>
              </a:rPr>
              <a:t>[data-tema="roxo"]</a:t>
            </a:r>
            <a:endParaRPr b="0" lang="pt-BR" sz="95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42" name="Text 29"/>
          <p:cNvSpPr/>
          <p:nvPr/>
        </p:nvSpPr>
        <p:spPr>
          <a:xfrm>
            <a:off x="6894720" y="2121480"/>
            <a:ext cx="1736640" cy="319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00" strike="noStrike" u="none">
                <a:solidFill>
                  <a:srgbClr val="666666"/>
                </a:solidFill>
                <a:effectLst/>
                <a:uFillTx/>
                <a:latin typeface="Courier New"/>
                <a:ea typeface="Courier New"/>
              </a:rPr>
              <a:t>--ts-fundo</a:t>
            </a:r>
            <a:endParaRPr b="0" lang="pt-BR" sz="9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43" name="Text 30"/>
          <p:cNvSpPr/>
          <p:nvPr/>
        </p:nvSpPr>
        <p:spPr>
          <a:xfrm>
            <a:off x="6894720" y="2505600"/>
            <a:ext cx="1736640" cy="319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00" strike="noStrike" u="none">
                <a:solidFill>
                  <a:srgbClr val="666666"/>
                </a:solidFill>
                <a:effectLst/>
                <a:uFillTx/>
                <a:latin typeface="Courier New"/>
                <a:ea typeface="Courier New"/>
              </a:rPr>
              <a:t>--ts-texto</a:t>
            </a:r>
            <a:endParaRPr b="0" lang="pt-BR" sz="9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44" name="Text 31"/>
          <p:cNvSpPr/>
          <p:nvPr/>
        </p:nvSpPr>
        <p:spPr>
          <a:xfrm>
            <a:off x="6894720" y="2889360"/>
            <a:ext cx="1736640" cy="319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00" strike="noStrike" u="none">
                <a:solidFill>
                  <a:srgbClr val="666666"/>
                </a:solidFill>
                <a:effectLst/>
                <a:uFillTx/>
                <a:latin typeface="Courier New"/>
                <a:ea typeface="Courier New"/>
              </a:rPr>
              <a:t>--ts-primaria</a:t>
            </a:r>
            <a:endParaRPr b="0" lang="pt-BR" sz="9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45" name="Shape 32"/>
          <p:cNvSpPr/>
          <p:nvPr/>
        </p:nvSpPr>
        <p:spPr>
          <a:xfrm>
            <a:off x="274320" y="3858840"/>
            <a:ext cx="8594640" cy="1078200"/>
          </a:xfrm>
          <a:prstGeom prst="rect">
            <a:avLst/>
          </a:prstGeom>
          <a:solidFill>
            <a:srgbClr val="0d1320"/>
          </a:solidFill>
          <a:ln w="12700">
            <a:solidFill>
              <a:srgbClr val="1e3a5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pt-BR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46" name="Text 33"/>
          <p:cNvSpPr/>
          <p:nvPr/>
        </p:nvSpPr>
        <p:spPr>
          <a:xfrm>
            <a:off x="411480" y="3996000"/>
            <a:ext cx="8320320" cy="803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50" strike="noStrike" u="none">
                <a:solidFill>
                  <a:srgbClr val="78b9ff"/>
                </a:solidFill>
                <a:effectLst/>
                <a:uFillTx/>
                <a:latin typeface="Courier New"/>
                <a:ea typeface="Courier New"/>
              </a:rPr>
              <a:t>// main.ts — rotação circular entre temas</a:t>
            </a:r>
            <a:endParaRPr b="0" lang="pt-BR" sz="105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50" strike="noStrike" u="none">
                <a:solidFill>
                  <a:srgbClr val="78b9ff"/>
                </a:solidFill>
                <a:effectLst/>
                <a:uFillTx/>
                <a:latin typeface="Courier New"/>
                <a:ea typeface="Courier New"/>
              </a:rPr>
              <a:t>const temas: NomeTema[] = ['light', 'dark', 'verde', 'roxo'];</a:t>
            </a:r>
            <a:endParaRPr b="0" lang="pt-BR" sz="105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50" strike="noStrike" u="none">
                <a:solidFill>
                  <a:srgbClr val="78b9ff"/>
                </a:solidFill>
                <a:effectLst/>
                <a:uFillTx/>
                <a:latin typeface="Courier New"/>
                <a:ea typeface="Courier New"/>
              </a:rPr>
              <a:t>function alternarTema() {</a:t>
            </a:r>
            <a:endParaRPr b="0" lang="pt-BR" sz="105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50" strike="noStrike" u="none">
                <a:solidFill>
                  <a:srgbClr val="78b9ff"/>
                </a:solidFill>
                <a:effectLst/>
                <a:uFillTx/>
                <a:latin typeface="Courier New"/>
                <a:ea typeface="Courier New"/>
              </a:rPr>
              <a:t>  const idx = temas.indexOf(atual);</a:t>
            </a:r>
            <a:endParaRPr b="0" lang="pt-BR" sz="105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50" strike="noStrike" u="none">
                <a:solidFill>
                  <a:srgbClr val="78b9ff"/>
                </a:solidFill>
                <a:effectLst/>
                <a:uFillTx/>
                <a:latin typeface="Courier New"/>
                <a:ea typeface="Courier New"/>
              </a:rPr>
              <a:t>  aplicarTema(temas[(idx + 1) % temas.length]);</a:t>
            </a:r>
            <a:endParaRPr b="0" lang="pt-BR" sz="105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50" strike="noStrike" u="none">
                <a:solidFill>
                  <a:srgbClr val="78b9ff"/>
                </a:solidFill>
                <a:effectLst/>
                <a:uFillTx/>
                <a:latin typeface="Courier New"/>
                <a:ea typeface="Courier New"/>
              </a:rPr>
              <a:t>}</a:t>
            </a:r>
            <a:endParaRPr b="0" lang="pt-BR" sz="105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47" name="Text 34"/>
          <p:cNvSpPr/>
          <p:nvPr/>
        </p:nvSpPr>
        <p:spPr>
          <a:xfrm>
            <a:off x="8412480" y="4773240"/>
            <a:ext cx="639360" cy="255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00" strike="noStrike" u="none">
                <a:solidFill>
                  <a:srgbClr val="7b9fc4"/>
                </a:solidFill>
                <a:effectLst/>
                <a:uFillTx/>
                <a:latin typeface="Calibri"/>
                <a:ea typeface="Calibri"/>
              </a:rPr>
              <a:t>10 / 14</a:t>
            </a:r>
            <a:endParaRPr b="0" lang="pt-BR" sz="9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Shape 0"/>
          <p:cNvSpPr/>
          <p:nvPr/>
        </p:nvSpPr>
        <p:spPr>
          <a:xfrm>
            <a:off x="0" y="0"/>
            <a:ext cx="54000" cy="5142960"/>
          </a:xfrm>
          <a:prstGeom prst="rect">
            <a:avLst/>
          </a:prstGeom>
          <a:solidFill>
            <a:srgbClr val="1b3a6b"/>
          </a:solidFill>
          <a:ln w="12700">
            <a:solidFill>
              <a:srgbClr val="1b3a6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pt-BR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49" name="Shape 1"/>
          <p:cNvSpPr/>
          <p:nvPr/>
        </p:nvSpPr>
        <p:spPr>
          <a:xfrm>
            <a:off x="320040" y="182880"/>
            <a:ext cx="1229040" cy="255240"/>
          </a:xfrm>
          <a:prstGeom prst="rect">
            <a:avLst/>
          </a:prstGeom>
          <a:solidFill>
            <a:srgbClr val="cc6699"/>
          </a:solidFill>
          <a:ln w="12700">
            <a:solidFill>
              <a:srgbClr val="cc6699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pt-BR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50" name="Text 2"/>
          <p:cNvSpPr/>
          <p:nvPr/>
        </p:nvSpPr>
        <p:spPr>
          <a:xfrm>
            <a:off x="320040" y="191880"/>
            <a:ext cx="1229040" cy="255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900" strike="noStrike" u="non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VITE + SASS</a:t>
            </a:r>
            <a:endParaRPr b="0" lang="pt-BR" sz="9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151" name="Image 0" descr="preencoded.png"/>
          <p:cNvPicPr/>
          <p:nvPr/>
        </p:nvPicPr>
        <p:blipFill>
          <a:blip r:embed="rId1"/>
          <a:stretch/>
        </p:blipFill>
        <p:spPr>
          <a:xfrm>
            <a:off x="8046720" y="274320"/>
            <a:ext cx="913680" cy="9136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52" name="Text 3"/>
          <p:cNvSpPr/>
          <p:nvPr/>
        </p:nvSpPr>
        <p:spPr>
          <a:xfrm>
            <a:off x="320040" y="457200"/>
            <a:ext cx="7497360" cy="529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600" strike="noStrike" u="none">
                <a:solidFill>
                  <a:srgbClr val="ffffff"/>
                </a:solidFill>
                <a:effectLst/>
                <a:uFillTx/>
                <a:latin typeface="Trebuchet MS"/>
                <a:ea typeface="Trebuchet MS"/>
              </a:rPr>
              <a:t>Sass no Vite — zero configuração</a:t>
            </a:r>
            <a:endParaRPr b="0" lang="pt-BR" sz="26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53" name="Shape 4"/>
          <p:cNvSpPr/>
          <p:nvPr/>
        </p:nvSpPr>
        <p:spPr>
          <a:xfrm>
            <a:off x="228600" y="1188720"/>
            <a:ext cx="8686080" cy="959400"/>
          </a:xfrm>
          <a:prstGeom prst="rect">
            <a:avLst/>
          </a:prstGeom>
          <a:solidFill>
            <a:srgbClr val="162444"/>
          </a:solidFill>
          <a:ln w="12700">
            <a:solidFill>
              <a:srgbClr val="2a4a7f"/>
            </a:solidFill>
            <a:round/>
          </a:ln>
          <a:effectLst>
            <a:outerShdw algn="bl" blurRad="101520" dir="8100000" dist="25455" kx="0" ky="0" rotWithShape="0" sx="100000" sy="100000">
              <a:srgbClr val="000000">
                <a:alpha val="20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pt-BR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54" name="Shape 5"/>
          <p:cNvSpPr/>
          <p:nvPr/>
        </p:nvSpPr>
        <p:spPr>
          <a:xfrm>
            <a:off x="228600" y="1188720"/>
            <a:ext cx="45000" cy="959400"/>
          </a:xfrm>
          <a:prstGeom prst="rect">
            <a:avLst/>
          </a:prstGeom>
          <a:solidFill>
            <a:srgbClr val="1b3a6b"/>
          </a:solidFill>
          <a:ln w="12700">
            <a:solidFill>
              <a:srgbClr val="1b3a6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pt-BR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55" name="Shape 6"/>
          <p:cNvSpPr/>
          <p:nvPr/>
        </p:nvSpPr>
        <p:spPr>
          <a:xfrm>
            <a:off x="347400" y="1261800"/>
            <a:ext cx="456480" cy="456480"/>
          </a:xfrm>
          <a:prstGeom prst="ellipse">
            <a:avLst/>
          </a:prstGeom>
          <a:solidFill>
            <a:srgbClr val="f4a742"/>
          </a:solidFill>
          <a:ln w="12700">
            <a:solidFill>
              <a:srgbClr val="f4a742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pt-BR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6" name="Text 7"/>
          <p:cNvSpPr/>
          <p:nvPr/>
        </p:nvSpPr>
        <p:spPr>
          <a:xfrm>
            <a:off x="347400" y="1261800"/>
            <a:ext cx="456480" cy="456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400" strike="noStrike" u="none">
                <a:solidFill>
                  <a:srgbClr val="0d1b2a"/>
                </a:solidFill>
                <a:effectLst/>
                <a:uFillTx/>
                <a:latin typeface="Trebuchet MS"/>
                <a:ea typeface="Trebuchet MS"/>
              </a:rPr>
              <a:t>1</a:t>
            </a: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57" name="Text 8"/>
          <p:cNvSpPr/>
          <p:nvPr/>
        </p:nvSpPr>
        <p:spPr>
          <a:xfrm>
            <a:off x="868680" y="1261800"/>
            <a:ext cx="2285280" cy="410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300" strike="noStrike" u="none">
                <a:solidFill>
                  <a:srgbClr val="ffffff"/>
                </a:solidFill>
                <a:effectLst/>
                <a:uFillTx/>
                <a:latin typeface="Trebuchet MS"/>
                <a:ea typeface="Trebuchet MS"/>
              </a:rPr>
              <a:t>Instalar</a:t>
            </a:r>
            <a:endParaRPr b="0" lang="pt-BR" sz="13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58" name="Shape 9"/>
          <p:cNvSpPr/>
          <p:nvPr/>
        </p:nvSpPr>
        <p:spPr>
          <a:xfrm>
            <a:off x="3200400" y="1261800"/>
            <a:ext cx="5577120" cy="410760"/>
          </a:xfrm>
          <a:prstGeom prst="rect">
            <a:avLst/>
          </a:prstGeom>
          <a:solidFill>
            <a:srgbClr val="0d1320"/>
          </a:solidFill>
          <a:ln w="12700">
            <a:solidFill>
              <a:srgbClr val="1e3a5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pt-BR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59" name="Text 10"/>
          <p:cNvSpPr/>
          <p:nvPr/>
        </p:nvSpPr>
        <p:spPr>
          <a:xfrm>
            <a:off x="3337560" y="1398960"/>
            <a:ext cx="5302800" cy="136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50" strike="noStrike" u="none">
                <a:solidFill>
                  <a:srgbClr val="78b9ff"/>
                </a:solidFill>
                <a:effectLst/>
                <a:uFillTx/>
                <a:latin typeface="Courier New"/>
                <a:ea typeface="Courier New"/>
              </a:rPr>
              <a:t>npm install --save-dev sass</a:t>
            </a:r>
            <a:endParaRPr b="0" lang="pt-BR" sz="105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60" name="Shape 11"/>
          <p:cNvSpPr/>
          <p:nvPr/>
        </p:nvSpPr>
        <p:spPr>
          <a:xfrm>
            <a:off x="228600" y="2286000"/>
            <a:ext cx="8686080" cy="959400"/>
          </a:xfrm>
          <a:prstGeom prst="rect">
            <a:avLst/>
          </a:prstGeom>
          <a:solidFill>
            <a:srgbClr val="162444"/>
          </a:solidFill>
          <a:ln w="12700">
            <a:solidFill>
              <a:srgbClr val="2a4a7f"/>
            </a:solidFill>
            <a:round/>
          </a:ln>
          <a:effectLst>
            <a:outerShdw algn="bl" blurRad="101520" dir="8100000" dist="25455" kx="0" ky="0" rotWithShape="0" sx="100000" sy="100000">
              <a:srgbClr val="000000">
                <a:alpha val="20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pt-BR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61" name="Shape 12"/>
          <p:cNvSpPr/>
          <p:nvPr/>
        </p:nvSpPr>
        <p:spPr>
          <a:xfrm>
            <a:off x="228600" y="2286000"/>
            <a:ext cx="45000" cy="959400"/>
          </a:xfrm>
          <a:prstGeom prst="rect">
            <a:avLst/>
          </a:prstGeom>
          <a:solidFill>
            <a:srgbClr val="1b3a6b"/>
          </a:solidFill>
          <a:ln w="12700">
            <a:solidFill>
              <a:srgbClr val="1b3a6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pt-BR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62" name="Shape 13"/>
          <p:cNvSpPr/>
          <p:nvPr/>
        </p:nvSpPr>
        <p:spPr>
          <a:xfrm>
            <a:off x="347400" y="2359080"/>
            <a:ext cx="456480" cy="456480"/>
          </a:xfrm>
          <a:prstGeom prst="ellipse">
            <a:avLst/>
          </a:prstGeom>
          <a:solidFill>
            <a:srgbClr val="f4a742"/>
          </a:solidFill>
          <a:ln w="12700">
            <a:solidFill>
              <a:srgbClr val="f4a742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pt-BR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3" name="Text 14"/>
          <p:cNvSpPr/>
          <p:nvPr/>
        </p:nvSpPr>
        <p:spPr>
          <a:xfrm>
            <a:off x="347400" y="2359080"/>
            <a:ext cx="456480" cy="456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400" strike="noStrike" u="none">
                <a:solidFill>
                  <a:srgbClr val="0d1b2a"/>
                </a:solidFill>
                <a:effectLst/>
                <a:uFillTx/>
                <a:latin typeface="Trebuchet MS"/>
                <a:ea typeface="Trebuchet MS"/>
              </a:rPr>
              <a:t>2</a:t>
            </a: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64" name="Text 15"/>
          <p:cNvSpPr/>
          <p:nvPr/>
        </p:nvSpPr>
        <p:spPr>
          <a:xfrm>
            <a:off x="868680" y="2359080"/>
            <a:ext cx="2285280" cy="410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300" strike="noStrike" u="none">
                <a:solidFill>
                  <a:srgbClr val="ffffff"/>
                </a:solidFill>
                <a:effectLst/>
                <a:uFillTx/>
                <a:latin typeface="Trebuchet MS"/>
                <a:ea typeface="Trebuchet MS"/>
              </a:rPr>
              <a:t>Alterar link no HTML</a:t>
            </a:r>
            <a:endParaRPr b="0" lang="pt-BR" sz="13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65" name="Shape 16"/>
          <p:cNvSpPr/>
          <p:nvPr/>
        </p:nvSpPr>
        <p:spPr>
          <a:xfrm>
            <a:off x="3200400" y="2359080"/>
            <a:ext cx="5577120" cy="410760"/>
          </a:xfrm>
          <a:prstGeom prst="rect">
            <a:avLst/>
          </a:prstGeom>
          <a:solidFill>
            <a:srgbClr val="0d1320"/>
          </a:solidFill>
          <a:ln w="12700">
            <a:solidFill>
              <a:srgbClr val="1e3a5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pt-BR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66" name="Text 17"/>
          <p:cNvSpPr/>
          <p:nvPr/>
        </p:nvSpPr>
        <p:spPr>
          <a:xfrm>
            <a:off x="3337560" y="2496240"/>
            <a:ext cx="5302800" cy="136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50" strike="noStrike" u="none">
                <a:solidFill>
                  <a:srgbClr val="78b9ff"/>
                </a:solidFill>
                <a:effectLst/>
                <a:uFillTx/>
                <a:latin typeface="Courier New"/>
                <a:ea typeface="Courier New"/>
              </a:rPr>
              <a:t>&lt;link href="scss/style.scss" rel="stylesheet"/&gt;</a:t>
            </a:r>
            <a:endParaRPr b="0" lang="pt-BR" sz="105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67" name="Shape 18"/>
          <p:cNvSpPr/>
          <p:nvPr/>
        </p:nvSpPr>
        <p:spPr>
          <a:xfrm>
            <a:off x="228600" y="3383280"/>
            <a:ext cx="8686080" cy="959400"/>
          </a:xfrm>
          <a:prstGeom prst="rect">
            <a:avLst/>
          </a:prstGeom>
          <a:solidFill>
            <a:srgbClr val="162444"/>
          </a:solidFill>
          <a:ln w="12700">
            <a:solidFill>
              <a:srgbClr val="2a4a7f"/>
            </a:solidFill>
            <a:round/>
          </a:ln>
          <a:effectLst>
            <a:outerShdw algn="bl" blurRad="101520" dir="8100000" dist="25455" kx="0" ky="0" rotWithShape="0" sx="100000" sy="100000">
              <a:srgbClr val="000000">
                <a:alpha val="20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pt-BR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68" name="Shape 19"/>
          <p:cNvSpPr/>
          <p:nvPr/>
        </p:nvSpPr>
        <p:spPr>
          <a:xfrm>
            <a:off x="228600" y="3383280"/>
            <a:ext cx="45000" cy="959400"/>
          </a:xfrm>
          <a:prstGeom prst="rect">
            <a:avLst/>
          </a:prstGeom>
          <a:solidFill>
            <a:srgbClr val="1b3a6b"/>
          </a:solidFill>
          <a:ln w="12700">
            <a:solidFill>
              <a:srgbClr val="1b3a6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pt-BR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69" name="Shape 20"/>
          <p:cNvSpPr/>
          <p:nvPr/>
        </p:nvSpPr>
        <p:spPr>
          <a:xfrm>
            <a:off x="347400" y="3456360"/>
            <a:ext cx="456480" cy="456480"/>
          </a:xfrm>
          <a:prstGeom prst="ellipse">
            <a:avLst/>
          </a:prstGeom>
          <a:solidFill>
            <a:srgbClr val="f4a742"/>
          </a:solidFill>
          <a:ln w="12700">
            <a:solidFill>
              <a:srgbClr val="f4a742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pt-BR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0" name="Text 21"/>
          <p:cNvSpPr/>
          <p:nvPr/>
        </p:nvSpPr>
        <p:spPr>
          <a:xfrm>
            <a:off x="347400" y="3456360"/>
            <a:ext cx="456480" cy="456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400" strike="noStrike" u="none">
                <a:solidFill>
                  <a:srgbClr val="0d1b2a"/>
                </a:solidFill>
                <a:effectLst/>
                <a:uFillTx/>
                <a:latin typeface="Trebuchet MS"/>
                <a:ea typeface="Trebuchet MS"/>
              </a:rPr>
              <a:t>3</a:t>
            </a: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71" name="Text 22"/>
          <p:cNvSpPr/>
          <p:nvPr/>
        </p:nvSpPr>
        <p:spPr>
          <a:xfrm>
            <a:off x="868680" y="3456360"/>
            <a:ext cx="2285280" cy="410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300" strike="noStrike" u="none">
                <a:solidFill>
                  <a:srgbClr val="ffffff"/>
                </a:solidFill>
                <a:effectLst/>
                <a:uFillTx/>
                <a:latin typeface="Trebuchet MS"/>
                <a:ea typeface="Trebuchet MS"/>
              </a:rPr>
              <a:t>Rodar dev</a:t>
            </a:r>
            <a:endParaRPr b="0" lang="pt-BR" sz="13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72" name="Shape 23"/>
          <p:cNvSpPr/>
          <p:nvPr/>
        </p:nvSpPr>
        <p:spPr>
          <a:xfrm>
            <a:off x="3200400" y="3456360"/>
            <a:ext cx="5577120" cy="410760"/>
          </a:xfrm>
          <a:prstGeom prst="rect">
            <a:avLst/>
          </a:prstGeom>
          <a:solidFill>
            <a:srgbClr val="0d1320"/>
          </a:solidFill>
          <a:ln w="12700">
            <a:solidFill>
              <a:srgbClr val="1e3a5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pt-BR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73" name="Text 24"/>
          <p:cNvSpPr/>
          <p:nvPr/>
        </p:nvSpPr>
        <p:spPr>
          <a:xfrm>
            <a:off x="3337560" y="3593520"/>
            <a:ext cx="5302800" cy="136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50" strike="noStrike" u="none">
                <a:solidFill>
                  <a:srgbClr val="78b9ff"/>
                </a:solidFill>
                <a:effectLst/>
                <a:uFillTx/>
                <a:latin typeface="Courier New"/>
                <a:ea typeface="Courier New"/>
              </a:rPr>
              <a:t>npm run dev   # Vite compila o SCSS automaticamente</a:t>
            </a:r>
            <a:endParaRPr b="0" lang="pt-BR" sz="105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74" name="Shape 25"/>
          <p:cNvSpPr/>
          <p:nvPr/>
        </p:nvSpPr>
        <p:spPr>
          <a:xfrm>
            <a:off x="228600" y="4480560"/>
            <a:ext cx="8686080" cy="502200"/>
          </a:xfrm>
          <a:prstGeom prst="rect">
            <a:avLst/>
          </a:prstGeom>
          <a:solidFill>
            <a:srgbClr val="0f2a15"/>
          </a:solidFill>
          <a:ln w="12700">
            <a:solidFill>
              <a:srgbClr val="2a4a7f"/>
            </a:solidFill>
            <a:round/>
          </a:ln>
          <a:effectLst>
            <a:outerShdw algn="bl" blurRad="101520" dir="8100000" dist="25455" kx="0" ky="0" rotWithShape="0" sx="100000" sy="100000">
              <a:srgbClr val="000000">
                <a:alpha val="20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pt-BR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75" name="Text 26"/>
          <p:cNvSpPr/>
          <p:nvPr/>
        </p:nvSpPr>
        <p:spPr>
          <a:xfrm>
            <a:off x="411480" y="4526280"/>
            <a:ext cx="365040" cy="346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600" strike="noStrike" u="none">
                <a:solidFill>
                  <a:srgbClr val="2ecc71"/>
                </a:solidFill>
                <a:effectLst/>
                <a:uFillTx/>
                <a:latin typeface="Calibri"/>
                <a:ea typeface="Calibri"/>
              </a:rPr>
              <a:t>✓</a:t>
            </a:r>
            <a:endParaRPr b="0" lang="pt-BR" sz="16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76" name="Text 27"/>
          <p:cNvSpPr/>
          <p:nvPr/>
        </p:nvSpPr>
        <p:spPr>
          <a:xfrm>
            <a:off x="822960" y="4526280"/>
            <a:ext cx="7954560" cy="346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100" strike="noStrike" u="none">
                <a:solidFill>
                  <a:srgbClr val="e8eef7"/>
                </a:solidFill>
                <a:effectLst/>
                <a:uFillTx/>
                <a:latin typeface="Calibri"/>
                <a:ea typeface="Calibri"/>
              </a:rPr>
              <a:t>Durante o npm run dev, o SCSS é compilado em memória — nenhum arquivo .css é gerado em disco. No npm run build, o CSS final vai comprimido para dist/.</a:t>
            </a:r>
            <a:endParaRPr b="0" lang="pt-BR" sz="11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77" name="Text 28"/>
          <p:cNvSpPr/>
          <p:nvPr/>
        </p:nvSpPr>
        <p:spPr>
          <a:xfrm>
            <a:off x="8412480" y="4773240"/>
            <a:ext cx="639360" cy="255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00" strike="noStrike" u="none">
                <a:solidFill>
                  <a:srgbClr val="7b9fc4"/>
                </a:solidFill>
                <a:effectLst/>
                <a:uFillTx/>
                <a:latin typeface="Calibri"/>
                <a:ea typeface="Calibri"/>
              </a:rPr>
              <a:t>12 / 14</a:t>
            </a:r>
            <a:endParaRPr b="0" lang="pt-BR" sz="9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" name="Shape 0"/>
          <p:cNvSpPr/>
          <p:nvPr/>
        </p:nvSpPr>
        <p:spPr>
          <a:xfrm>
            <a:off x="-914400" y="3200400"/>
            <a:ext cx="4571280" cy="4571280"/>
          </a:xfrm>
          <a:prstGeom prst="ellipse">
            <a:avLst/>
          </a:prstGeom>
          <a:solidFill>
            <a:srgbClr val="1b3a6b">
              <a:alpha val="25000"/>
            </a:srgbClr>
          </a:solidFill>
          <a:ln w="12700">
            <a:solidFill>
              <a:srgbClr val="1b3a6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pt-BR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79" name="Shape 1"/>
          <p:cNvSpPr/>
          <p:nvPr/>
        </p:nvSpPr>
        <p:spPr>
          <a:xfrm>
            <a:off x="6858000" y="-1371600"/>
            <a:ext cx="4571280" cy="4571280"/>
          </a:xfrm>
          <a:prstGeom prst="ellipse">
            <a:avLst/>
          </a:prstGeom>
          <a:solidFill>
            <a:srgbClr val="cc6699">
              <a:alpha val="20000"/>
            </a:srgbClr>
          </a:solidFill>
          <a:ln w="12700">
            <a:solidFill>
              <a:srgbClr val="cc6699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pt-BR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80" name="Text 2"/>
          <p:cNvSpPr/>
          <p:nvPr/>
        </p:nvSpPr>
        <p:spPr>
          <a:xfrm>
            <a:off x="731520" y="502920"/>
            <a:ext cx="7680240" cy="410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300" spc="400" strike="noStrike" u="none">
                <a:solidFill>
                  <a:srgbClr val="cc6699"/>
                </a:solidFill>
                <a:effectLst/>
                <a:uFillTx/>
                <a:latin typeface="Trebuchet MS"/>
                <a:ea typeface="Trebuchet MS"/>
              </a:rPr>
              <a:t>Recapitulando</a:t>
            </a:r>
            <a:endParaRPr b="0" lang="pt-BR" sz="13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81" name="Text 3"/>
          <p:cNvSpPr/>
          <p:nvPr/>
        </p:nvSpPr>
        <p:spPr>
          <a:xfrm>
            <a:off x="548640" y="1005840"/>
            <a:ext cx="8046000" cy="1370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3400" strike="noStrike" u="none">
                <a:solidFill>
                  <a:srgbClr val="ffffff"/>
                </a:solidFill>
                <a:effectLst/>
                <a:uFillTx/>
                <a:latin typeface="Trebuchet MS"/>
                <a:ea typeface="Trebuchet MS"/>
              </a:rPr>
              <a:t>Você agora tem CSS</a:t>
            </a:r>
            <a:endParaRPr b="0" lang="pt-BR" sz="3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3400" strike="noStrike" u="none">
                <a:solidFill>
                  <a:srgbClr val="ffffff"/>
                </a:solidFill>
                <a:effectLst/>
                <a:uFillTx/>
                <a:latin typeface="Trebuchet MS"/>
                <a:ea typeface="Trebuchet MS"/>
              </a:rPr>
              <a:t>organizado e com superpoderes</a:t>
            </a:r>
            <a:endParaRPr b="0" lang="pt-BR" sz="3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82" name="Shape 6"/>
          <p:cNvSpPr/>
          <p:nvPr/>
        </p:nvSpPr>
        <p:spPr>
          <a:xfrm>
            <a:off x="900000" y="2633400"/>
            <a:ext cx="1188000" cy="474840"/>
          </a:xfrm>
          <a:prstGeom prst="rect">
            <a:avLst/>
          </a:prstGeom>
          <a:solidFill>
            <a:srgbClr val="162444"/>
          </a:solidFill>
          <a:ln w="12700">
            <a:solidFill>
              <a:srgbClr val="cc6699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pt-BR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83" name="Text 7"/>
          <p:cNvSpPr/>
          <p:nvPr/>
        </p:nvSpPr>
        <p:spPr>
          <a:xfrm>
            <a:off x="900000" y="2633400"/>
            <a:ext cx="1188000" cy="474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150" strike="noStrike" u="none">
                <a:solidFill>
                  <a:srgbClr val="cc6699"/>
                </a:solidFill>
                <a:effectLst/>
                <a:uFillTx/>
                <a:latin typeface="Trebuchet MS"/>
                <a:ea typeface="Trebuchet MS"/>
              </a:rPr>
              <a:t>$variáveis</a:t>
            </a:r>
            <a:endParaRPr b="0" lang="pt-BR" sz="115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84" name="Shape 8"/>
          <p:cNvSpPr/>
          <p:nvPr/>
        </p:nvSpPr>
        <p:spPr>
          <a:xfrm>
            <a:off x="2225880" y="2633400"/>
            <a:ext cx="1188000" cy="474840"/>
          </a:xfrm>
          <a:prstGeom prst="rect">
            <a:avLst/>
          </a:prstGeom>
          <a:solidFill>
            <a:srgbClr val="162444"/>
          </a:solidFill>
          <a:ln w="12700">
            <a:solidFill>
              <a:srgbClr val="cc6699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pt-BR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85" name="Text 9"/>
          <p:cNvSpPr/>
          <p:nvPr/>
        </p:nvSpPr>
        <p:spPr>
          <a:xfrm>
            <a:off x="2225880" y="2633400"/>
            <a:ext cx="1188000" cy="474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150" strike="noStrike" u="none">
                <a:solidFill>
                  <a:srgbClr val="cc6699"/>
                </a:solidFill>
                <a:effectLst/>
                <a:uFillTx/>
                <a:latin typeface="Trebuchet MS"/>
                <a:ea typeface="Trebuchet MS"/>
              </a:rPr>
              <a:t>Nesting</a:t>
            </a:r>
            <a:endParaRPr b="0" lang="pt-BR" sz="115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86" name="Shape 10"/>
          <p:cNvSpPr/>
          <p:nvPr/>
        </p:nvSpPr>
        <p:spPr>
          <a:xfrm>
            <a:off x="3551760" y="2633400"/>
            <a:ext cx="1188000" cy="474840"/>
          </a:xfrm>
          <a:prstGeom prst="rect">
            <a:avLst/>
          </a:prstGeom>
          <a:solidFill>
            <a:srgbClr val="162444"/>
          </a:solidFill>
          <a:ln w="12700">
            <a:solidFill>
              <a:srgbClr val="cc6699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pt-BR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87" name="Text 11"/>
          <p:cNvSpPr/>
          <p:nvPr/>
        </p:nvSpPr>
        <p:spPr>
          <a:xfrm>
            <a:off x="3551760" y="2633400"/>
            <a:ext cx="1188000" cy="474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150" strike="noStrike" u="none">
                <a:solidFill>
                  <a:srgbClr val="cc6699"/>
                </a:solidFill>
                <a:effectLst/>
                <a:uFillTx/>
                <a:latin typeface="Trebuchet MS"/>
                <a:ea typeface="Trebuchet MS"/>
              </a:rPr>
              <a:t>@mixin</a:t>
            </a:r>
            <a:endParaRPr b="0" lang="pt-BR" sz="115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88" name="Shape 12"/>
          <p:cNvSpPr/>
          <p:nvPr/>
        </p:nvSpPr>
        <p:spPr>
          <a:xfrm>
            <a:off x="4877640" y="2633400"/>
            <a:ext cx="1188000" cy="474840"/>
          </a:xfrm>
          <a:prstGeom prst="rect">
            <a:avLst/>
          </a:prstGeom>
          <a:solidFill>
            <a:srgbClr val="162444"/>
          </a:solidFill>
          <a:ln w="12700">
            <a:solidFill>
              <a:srgbClr val="f4a742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pt-BR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89" name="Text 13"/>
          <p:cNvSpPr/>
          <p:nvPr/>
        </p:nvSpPr>
        <p:spPr>
          <a:xfrm>
            <a:off x="4877640" y="2633400"/>
            <a:ext cx="1188000" cy="474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150" strike="noStrike" u="none">
                <a:solidFill>
                  <a:srgbClr val="f4a742"/>
                </a:solidFill>
                <a:effectLst/>
                <a:uFillTx/>
                <a:latin typeface="Trebuchet MS"/>
                <a:ea typeface="Trebuchet MS"/>
              </a:rPr>
              <a:t>Custom Props</a:t>
            </a:r>
            <a:endParaRPr b="0" lang="pt-BR" sz="115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90" name="Shape 14"/>
          <p:cNvSpPr/>
          <p:nvPr/>
        </p:nvSpPr>
        <p:spPr>
          <a:xfrm>
            <a:off x="6203520" y="2633400"/>
            <a:ext cx="1188000" cy="474840"/>
          </a:xfrm>
          <a:prstGeom prst="rect">
            <a:avLst/>
          </a:prstGeom>
          <a:solidFill>
            <a:srgbClr val="162444"/>
          </a:solidFill>
          <a:ln w="12700">
            <a:solidFill>
              <a:srgbClr val="f4a742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pt-BR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91" name="Text 15"/>
          <p:cNvSpPr/>
          <p:nvPr/>
        </p:nvSpPr>
        <p:spPr>
          <a:xfrm>
            <a:off x="6203520" y="2633400"/>
            <a:ext cx="1188000" cy="474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150" strike="noStrike" u="none">
                <a:solidFill>
                  <a:srgbClr val="f4a742"/>
                </a:solidFill>
                <a:effectLst/>
                <a:uFillTx/>
                <a:latin typeface="Trebuchet MS"/>
                <a:ea typeface="Trebuchet MS"/>
              </a:rPr>
              <a:t>Temas</a:t>
            </a:r>
            <a:endParaRPr b="0" lang="pt-BR" sz="115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 pitchFamily="0" charset="1"/>
        <a:ea typeface=""/>
        <a:cs typeface=""/>
      </a:majorFont>
      <a:minorFont>
        <a:latin typeface="Calibri" panose="020F0502020204030204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5</TotalTime>
  <Application>LibreOffice/25.2.3.2$Linux_X86_64 LibreOffice_project/520$Build-2</Application>
  <AppVersion>15.0000</AppVersion>
  <Words>0</Words>
  <Paragraphs>0</Paragraphs>
  <Company>PptxGenJS</Company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2026-04-13T22:39:33Z</dcterms:created>
  <dc:creator>PptxGenJS</dc:creator>
  <dc:description/>
  <dc:language>pt-BR</dc:language>
  <cp:lastModifiedBy/>
  <dcterms:modified xsi:type="dcterms:W3CDTF">2026-04-16T19:03:08Z</dcterms:modified>
  <cp:revision>6</cp:revision>
  <dc:subject>PptxGenJS Presentation</dc:subject>
  <dc:title>Revisão Aula 3 — Sass e CSS Avançado</dc:title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Notes">
    <vt:i4>14</vt:i4>
  </property>
  <property fmtid="{D5CDD505-2E9C-101B-9397-08002B2CF9AE}" pid="3" name="PresentationFormat">
    <vt:lpwstr>On-screen Show (16:9)</vt:lpwstr>
  </property>
  <property fmtid="{D5CDD505-2E9C-101B-9397-08002B2CF9AE}" pid="4" name="Slides">
    <vt:i4>14</vt:i4>
  </property>
</Properties>
</file>